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7" r:id="rId1"/>
  </p:sldMasterIdLst>
  <p:notesMasterIdLst>
    <p:notesMasterId r:id="rId7"/>
  </p:notesMasterIdLst>
  <p:handoutMasterIdLst>
    <p:handoutMasterId r:id="rId8"/>
  </p:handoutMasterIdLst>
  <p:sldIdLst>
    <p:sldId id="291" r:id="rId2"/>
    <p:sldId id="294" r:id="rId3"/>
    <p:sldId id="295" r:id="rId4"/>
    <p:sldId id="296" r:id="rId5"/>
    <p:sldId id="300" r:id="rId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64" userDrawn="1">
          <p15:clr>
            <a:srgbClr val="A4A3A4"/>
          </p15:clr>
        </p15:guide>
        <p15:guide id="2" orient="horz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CFD"/>
    <a:srgbClr val="C1CCF6"/>
    <a:srgbClr val="D5BAEB"/>
    <a:srgbClr val="8E9DEF"/>
    <a:srgbClr val="A6EDD2"/>
    <a:srgbClr val="A3E6FF"/>
    <a:srgbClr val="FFFFFF"/>
    <a:srgbClr val="E0B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635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6264"/>
        <p:guide orient="horz"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DEB5601-745F-43E2-9E56-BD4A3EEF89FC}" type="datetime1">
              <a:rPr lang="pt-BR" smtClean="0"/>
              <a:t>21/07/2026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537205A-E1E8-4792-BFE4-BDA0088545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BCD00-D44F-42A1-AE32-93AE4A0FEF7C}" type="datetime1">
              <a:rPr lang="pt-BR" smtClean="0"/>
              <a:pPr/>
              <a:t>21/07/2026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32C31BA-67D8-413F-A5DD-028125073D1D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94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901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9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20DBFB-B27A-4152-B93B-E0544768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3F44AE-E3AC-434B-A3B4-710D56035B77}" type="datetime1">
              <a:rPr lang="pt-BR" noProof="0" smtClean="0"/>
              <a:t>21/07/2026</a:t>
            </a:fld>
            <a:endParaRPr lang="pt-BR" noProof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2609EE-8677-453E-B000-7C9D37C3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85346EE-7757-43D9-8F90-C5A66E3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0128637-293C-4F87-8D53-0BE4379C8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37" y="310287"/>
            <a:ext cx="5238313" cy="853352"/>
          </a:xfrm>
        </p:spPr>
        <p:txBody>
          <a:bodyPr rtlCol="0">
            <a:normAutofit/>
          </a:bodyPr>
          <a:lstStyle>
            <a:lvl1pPr>
              <a:defRPr sz="3600" b="1"/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ABCAE7BC-9D1D-42BA-A132-117B58540C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337" y="981076"/>
            <a:ext cx="3581400" cy="365126"/>
          </a:xfrm>
        </p:spPr>
        <p:txBody>
          <a:bodyPr rtlCol="0">
            <a:norm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3573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20DBFB-B27A-4152-B93B-E0544768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305870-41C0-4DCF-91B9-0E3381693D20}" type="datetime1">
              <a:rPr lang="pt-BR" noProof="0" smtClean="0"/>
              <a:t>21/07/2026</a:t>
            </a:fld>
            <a:endParaRPr lang="pt-BR" noProof="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2609EE-8677-453E-B000-7C9D37C3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85346EE-7757-43D9-8F90-C5A66E3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0128637-293C-4F87-8D53-0BE4379C8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37" y="310287"/>
            <a:ext cx="5238313" cy="853352"/>
          </a:xfrm>
        </p:spPr>
        <p:txBody>
          <a:bodyPr rtlCol="0">
            <a:normAutofit/>
          </a:bodyPr>
          <a:lstStyle>
            <a:lvl1pPr>
              <a:defRPr sz="3600" b="1"/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ABCAE7BC-9D1D-42BA-A132-117B58540C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337" y="981076"/>
            <a:ext cx="3581400" cy="365126"/>
          </a:xfrm>
        </p:spPr>
        <p:txBody>
          <a:bodyPr rtlCol="0">
            <a:norm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001FCC3-C0B6-411C-97C8-DCB57E6D3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1470027"/>
            <a:ext cx="11487150" cy="4724400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2451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CF54381-9CCF-4097-AD72-EEF14FB09F18}" type="datetime1">
              <a:rPr lang="pt-BR" noProof="0" smtClean="0"/>
              <a:t>21/07/2026</a:t>
            </a:fld>
            <a:endParaRPr lang="pt-BR" noProof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966EA62-41C5-4F9A-A915-5B0BC739C92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0" r:id="rId1"/>
    <p:sldLayoutId id="2147484791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"/>
          <p:cNvSpPr/>
          <p:nvPr/>
        </p:nvSpPr>
        <p:spPr>
          <a:xfrm>
            <a:off x="460000" y="600000"/>
            <a:ext cx="9000000" cy="560000"/>
          </a:xfrm>
          <a:prstGeom prst="rect">
            <a:avLst/>
          </a:prstGeom>
        </p:spPr>
        <p:txBody>
          <a:bodyPr/>
          <a:lstStyle/>
          <a:p>
            <a:r>
              <a:rPr lang="pt-BR" sz="2600" b="1">
                <a:solidFill>
                  <a:srgbClr val="234018"/>
                </a:solidFill>
              </a:rPr>
              <a:t>Visão Geral Executiva</a:t>
            </a:r>
          </a:p>
        </p:txBody>
      </p:sp>
      <p:sp>
        <p:nvSpPr>
          <p:cNvPr id="218" name="desc"/>
          <p:cNvSpPr/>
          <p:nvPr/>
        </p:nvSpPr>
        <p:spPr>
          <a:xfrm>
            <a:off x="460000" y="1150000"/>
            <a:ext cx="9000000" cy="280000"/>
          </a:xfrm>
          <a:prstGeom prst="rect">
            <a:avLst/>
          </a:prstGeom>
        </p:spPr>
        <p:txBody>
          <a:bodyPr/>
          <a:lstStyle/>
          <a:p>
            <a:r>
              <a:rPr lang="pt-BR" sz="1000" spc="150">
                <a:solidFill>
                  <a:srgbClr val="4E9E24"/>
                </a:solidFill>
              </a:rPr>
              <a:t>HIERARQUIA DE REPORTES — NÍVEL DIRETIVO</a:t>
            </a:r>
          </a:p>
        </p:txBody>
      </p:sp>
      <p:sp>
        <p:nvSpPr>
          <p:cNvPr id="219" name="leglab"/>
          <p:cNvSpPr/>
          <p:nvPr/>
        </p:nvSpPr>
        <p:spPr>
          <a:xfrm>
            <a:off x="8050000" y="345000"/>
            <a:ext cx="1050000" cy="240000"/>
          </a:xfrm>
          <a:prstGeom prst="rect">
            <a:avLst/>
          </a:prstGeom>
        </p:spPr>
        <p:txBody>
          <a:bodyPr anchor="ctr"/>
          <a:lstStyle/>
          <a:p>
            <a:pPr algn="r"/>
            <a:r>
              <a:rPr lang="pt-BR" sz="800" b="1" spc="120">
                <a:solidFill>
                  <a:srgbClr val="4E9E24"/>
                </a:solidFill>
              </a:rPr>
              <a:t>VÍNCULO</a:t>
            </a:r>
          </a:p>
        </p:txBody>
      </p:sp>
      <p:sp>
        <p:nvSpPr>
          <p:cNvPr id="220" name="pill 220"/>
          <p:cNvSpPr/>
          <p:nvPr/>
        </p:nvSpPr>
        <p:spPr>
          <a:xfrm>
            <a:off x="9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21" name="lg"/>
          <p:cNvSpPr/>
          <p:nvPr/>
        </p:nvSpPr>
        <p:spPr>
          <a:xfrm>
            <a:off x="9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Efetivo</a:t>
            </a:r>
          </a:p>
        </p:txBody>
      </p:sp>
      <p:sp>
        <p:nvSpPr>
          <p:cNvPr id="222" name="pill 222"/>
          <p:cNvSpPr/>
          <p:nvPr/>
        </p:nvSpPr>
        <p:spPr>
          <a:xfrm>
            <a:off x="10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23" name="lg"/>
          <p:cNvSpPr/>
          <p:nvPr/>
        </p:nvSpPr>
        <p:spPr>
          <a:xfrm>
            <a:off x="10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Pessoa Jurídica</a:t>
            </a:r>
          </a:p>
        </p:txBody>
      </p:sp>
      <p:sp>
        <p:nvSpPr>
          <p:cNvPr id="224" name="pill 224"/>
          <p:cNvSpPr/>
          <p:nvPr/>
        </p:nvSpPr>
        <p:spPr>
          <a:xfrm>
            <a:off x="11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225" name="lg"/>
          <p:cNvSpPr/>
          <p:nvPr/>
        </p:nvSpPr>
        <p:spPr>
          <a:xfrm>
            <a:off x="11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Prest. Serviço</a:t>
            </a:r>
          </a:p>
        </p:txBody>
      </p:sp>
      <p:sp>
        <p:nvSpPr>
          <p:cNvPr id="201" name="Box 201"/>
          <p:cNvSpPr/>
          <p:nvPr/>
        </p:nvSpPr>
        <p:spPr>
          <a:xfrm>
            <a:off x="4796000" y="1700000"/>
            <a:ext cx="2600000" cy="760000"/>
          </a:xfrm>
          <a:prstGeom prst="roundRect">
            <a:avLst>
              <a:gd name="adj" fmla="val 8000"/>
            </a:avLst>
          </a:prstGeom>
          <a:solidFill>
            <a:srgbClr val="4E9E24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50">
                <a:solidFill>
                  <a:srgbClr val="FFFFFF"/>
                </a:solidFill>
              </a:rPr>
              <a:t>Diretor Presidente (CEO)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300" b="1">
                <a:solidFill>
                  <a:srgbClr val="FFFFFF"/>
                </a:solidFill>
              </a:rPr>
              <a:t>Fernando Candido</a:t>
            </a:r>
          </a:p>
        </p:txBody>
      </p:sp>
      <p:cxnSp>
        <p:nvCxnSpPr>
          <p:cNvPr id="210" name="C210"/>
          <p:cNvCxnSpPr/>
          <p:nvPr/>
        </p:nvCxnSpPr>
        <p:spPr>
          <a:xfrm>
            <a:off x="6096000" y="2460000"/>
            <a:ext cx="0" cy="49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11" name="C211"/>
          <p:cNvCxnSpPr/>
          <p:nvPr/>
        </p:nvCxnSpPr>
        <p:spPr>
          <a:xfrm>
            <a:off x="2046000" y="2955000"/>
            <a:ext cx="810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12" name="C212"/>
          <p:cNvCxnSpPr/>
          <p:nvPr/>
        </p:nvCxnSpPr>
        <p:spPr>
          <a:xfrm>
            <a:off x="2046000" y="2955000"/>
            <a:ext cx="0" cy="49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13" name="C213"/>
          <p:cNvCxnSpPr/>
          <p:nvPr/>
        </p:nvCxnSpPr>
        <p:spPr>
          <a:xfrm>
            <a:off x="4746000" y="2955000"/>
            <a:ext cx="0" cy="49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14" name="C214"/>
          <p:cNvCxnSpPr/>
          <p:nvPr/>
        </p:nvCxnSpPr>
        <p:spPr>
          <a:xfrm>
            <a:off x="7446000" y="2955000"/>
            <a:ext cx="0" cy="49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15" name="C215"/>
          <p:cNvCxnSpPr/>
          <p:nvPr/>
        </p:nvCxnSpPr>
        <p:spPr>
          <a:xfrm>
            <a:off x="10146000" y="2955000"/>
            <a:ext cx="0" cy="49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202" name="Box 202"/>
          <p:cNvSpPr/>
          <p:nvPr/>
        </p:nvSpPr>
        <p:spPr>
          <a:xfrm>
            <a:off x="846000" y="3450000"/>
            <a:ext cx="2400000" cy="10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234018"/>
                </a:solidFill>
              </a:rPr>
              <a:t>Diretora ADM / Financeira (CFO)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>
                <a:solidFill>
                  <a:srgbClr val="234018"/>
                </a:solidFill>
              </a:rPr>
              <a:t>Carla Cruz</a:t>
            </a:r>
          </a:p>
        </p:txBody>
      </p:sp>
      <p:sp>
        <p:nvSpPr>
          <p:cNvPr id="203" name="pill 203"/>
          <p:cNvSpPr/>
          <p:nvPr/>
        </p:nvSpPr>
        <p:spPr>
          <a:xfrm>
            <a:off x="2836000" y="42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 dirty="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04" name="Box 204"/>
          <p:cNvSpPr/>
          <p:nvPr/>
        </p:nvSpPr>
        <p:spPr>
          <a:xfrm>
            <a:off x="3546000" y="3450000"/>
            <a:ext cx="2400000" cy="10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234018"/>
                </a:solidFill>
              </a:rPr>
              <a:t>Gerente de Produtos &amp; Operações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>
                <a:solidFill>
                  <a:srgbClr val="234018"/>
                </a:solidFill>
              </a:rPr>
              <a:t>Raquel B. Cruz</a:t>
            </a:r>
          </a:p>
        </p:txBody>
      </p:sp>
      <p:sp>
        <p:nvSpPr>
          <p:cNvPr id="205" name="pill 205"/>
          <p:cNvSpPr/>
          <p:nvPr/>
        </p:nvSpPr>
        <p:spPr>
          <a:xfrm>
            <a:off x="5536000" y="42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06" name="Box 206"/>
          <p:cNvSpPr/>
          <p:nvPr/>
        </p:nvSpPr>
        <p:spPr>
          <a:xfrm>
            <a:off x="6246000" y="3450000"/>
            <a:ext cx="2400000" cy="10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234018"/>
                </a:solidFill>
              </a:rPr>
              <a:t>Gerente de TI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>
                <a:solidFill>
                  <a:srgbClr val="234018"/>
                </a:solidFill>
              </a:rPr>
              <a:t>Rafael Magalhães</a:t>
            </a:r>
          </a:p>
        </p:txBody>
      </p:sp>
      <p:sp>
        <p:nvSpPr>
          <p:cNvPr id="207" name="pill 207"/>
          <p:cNvSpPr/>
          <p:nvPr/>
        </p:nvSpPr>
        <p:spPr>
          <a:xfrm>
            <a:off x="8236000" y="42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08" name="Box 208"/>
          <p:cNvSpPr/>
          <p:nvPr/>
        </p:nvSpPr>
        <p:spPr>
          <a:xfrm>
            <a:off x="8946000" y="3450000"/>
            <a:ext cx="2400000" cy="10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234018"/>
                </a:solidFill>
              </a:rPr>
              <a:t>Diretora Comercial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>
                <a:solidFill>
                  <a:srgbClr val="234018"/>
                </a:solidFill>
              </a:rPr>
              <a:t>Noela Gigliotti</a:t>
            </a:r>
          </a:p>
        </p:txBody>
      </p:sp>
      <p:sp>
        <p:nvSpPr>
          <p:cNvPr id="209" name="pill 209"/>
          <p:cNvSpPr/>
          <p:nvPr/>
        </p:nvSpPr>
        <p:spPr>
          <a:xfrm>
            <a:off x="10936000" y="42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pic>
        <p:nvPicPr>
          <p:cNvPr id="960" name="Logo Pag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561" y="6569401"/>
            <a:ext cx="8667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"/>
          <p:cNvSpPr/>
          <p:nvPr/>
        </p:nvSpPr>
        <p:spPr>
          <a:xfrm>
            <a:off x="460000" y="600000"/>
            <a:ext cx="9000000" cy="560000"/>
          </a:xfrm>
          <a:prstGeom prst="rect">
            <a:avLst/>
          </a:prstGeom>
        </p:spPr>
        <p:txBody>
          <a:bodyPr/>
          <a:lstStyle/>
          <a:p>
            <a:r>
              <a:rPr lang="pt-BR" sz="2600" b="1">
                <a:solidFill>
                  <a:srgbClr val="234018"/>
                </a:solidFill>
              </a:rPr>
              <a:t>Diretoria Administrativa / Financeira</a:t>
            </a:r>
          </a:p>
        </p:txBody>
      </p:sp>
      <p:sp>
        <p:nvSpPr>
          <p:cNvPr id="260" name="desc"/>
          <p:cNvSpPr/>
          <p:nvPr/>
        </p:nvSpPr>
        <p:spPr>
          <a:xfrm>
            <a:off x="460000" y="1150000"/>
            <a:ext cx="9000000" cy="280000"/>
          </a:xfrm>
          <a:prstGeom prst="rect">
            <a:avLst/>
          </a:prstGeom>
        </p:spPr>
        <p:txBody>
          <a:bodyPr/>
          <a:lstStyle/>
          <a:p>
            <a:r>
              <a:rPr lang="pt-BR" sz="1000" spc="150">
                <a:solidFill>
                  <a:srgbClr val="4E9E24"/>
                </a:solidFill>
              </a:rPr>
              <a:t>CARLA (CFO) — FINANCEIRO, FACILITIES, JURÍDICO, COMPLIANCE &amp; RH</a:t>
            </a:r>
          </a:p>
        </p:txBody>
      </p:sp>
      <p:sp>
        <p:nvSpPr>
          <p:cNvPr id="261" name="leglab"/>
          <p:cNvSpPr/>
          <p:nvPr/>
        </p:nvSpPr>
        <p:spPr>
          <a:xfrm>
            <a:off x="8050000" y="345000"/>
            <a:ext cx="1050000" cy="240000"/>
          </a:xfrm>
          <a:prstGeom prst="rect">
            <a:avLst/>
          </a:prstGeom>
        </p:spPr>
        <p:txBody>
          <a:bodyPr anchor="ctr"/>
          <a:lstStyle/>
          <a:p>
            <a:pPr algn="r"/>
            <a:r>
              <a:rPr lang="pt-BR" sz="800" b="1" spc="120">
                <a:solidFill>
                  <a:srgbClr val="4E9E24"/>
                </a:solidFill>
              </a:rPr>
              <a:t>VÍNCULO</a:t>
            </a:r>
          </a:p>
        </p:txBody>
      </p:sp>
      <p:sp>
        <p:nvSpPr>
          <p:cNvPr id="262" name="pill 262"/>
          <p:cNvSpPr/>
          <p:nvPr/>
        </p:nvSpPr>
        <p:spPr>
          <a:xfrm>
            <a:off x="9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63" name="lg"/>
          <p:cNvSpPr/>
          <p:nvPr/>
        </p:nvSpPr>
        <p:spPr>
          <a:xfrm>
            <a:off x="9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Efetivo</a:t>
            </a:r>
          </a:p>
        </p:txBody>
      </p:sp>
      <p:sp>
        <p:nvSpPr>
          <p:cNvPr id="264" name="pill 264"/>
          <p:cNvSpPr/>
          <p:nvPr/>
        </p:nvSpPr>
        <p:spPr>
          <a:xfrm>
            <a:off x="10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65" name="lg"/>
          <p:cNvSpPr/>
          <p:nvPr/>
        </p:nvSpPr>
        <p:spPr>
          <a:xfrm>
            <a:off x="10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Pessoa Jurídica</a:t>
            </a:r>
          </a:p>
        </p:txBody>
      </p:sp>
      <p:sp>
        <p:nvSpPr>
          <p:cNvPr id="266" name="pill 266"/>
          <p:cNvSpPr/>
          <p:nvPr/>
        </p:nvSpPr>
        <p:spPr>
          <a:xfrm>
            <a:off x="11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267" name="lg"/>
          <p:cNvSpPr/>
          <p:nvPr/>
        </p:nvSpPr>
        <p:spPr>
          <a:xfrm>
            <a:off x="11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Prest. Serviço</a:t>
            </a:r>
          </a:p>
        </p:txBody>
      </p:sp>
      <p:sp>
        <p:nvSpPr>
          <p:cNvPr id="226" name="Box 226"/>
          <p:cNvSpPr/>
          <p:nvPr/>
        </p:nvSpPr>
        <p:spPr>
          <a:xfrm>
            <a:off x="4796000" y="1620000"/>
            <a:ext cx="2600000" cy="760000"/>
          </a:xfrm>
          <a:prstGeom prst="roundRect">
            <a:avLst>
              <a:gd name="adj" fmla="val 8000"/>
            </a:avLst>
          </a:prstGeom>
          <a:solidFill>
            <a:srgbClr val="4E9E24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FFFFFF"/>
                </a:solidFill>
              </a:rPr>
              <a:t>Diretora ADM / Financeira (CFO)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>
                <a:solidFill>
                  <a:srgbClr val="FFFFFF"/>
                </a:solidFill>
              </a:rPr>
              <a:t>Carla Cruz</a:t>
            </a:r>
          </a:p>
        </p:txBody>
      </p:sp>
      <p:sp>
        <p:nvSpPr>
          <p:cNvPr id="227" name="pill 227"/>
          <p:cNvSpPr/>
          <p:nvPr/>
        </p:nvSpPr>
        <p:spPr>
          <a:xfrm>
            <a:off x="6986000" y="212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cxnSp>
        <p:nvCxnSpPr>
          <p:cNvPr id="240" name="C240"/>
          <p:cNvCxnSpPr/>
          <p:nvPr/>
        </p:nvCxnSpPr>
        <p:spPr>
          <a:xfrm>
            <a:off x="6096000" y="2380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1" name="C241"/>
          <p:cNvCxnSpPr/>
          <p:nvPr/>
        </p:nvCxnSpPr>
        <p:spPr>
          <a:xfrm>
            <a:off x="1571000" y="2665000"/>
            <a:ext cx="905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2" name="C242"/>
          <p:cNvCxnSpPr/>
          <p:nvPr/>
        </p:nvCxnSpPr>
        <p:spPr>
          <a:xfrm>
            <a:off x="1571000" y="2665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3" name="C243"/>
          <p:cNvCxnSpPr/>
          <p:nvPr/>
        </p:nvCxnSpPr>
        <p:spPr>
          <a:xfrm>
            <a:off x="3381000" y="2665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4" name="C244"/>
          <p:cNvCxnSpPr/>
          <p:nvPr/>
        </p:nvCxnSpPr>
        <p:spPr>
          <a:xfrm>
            <a:off x="5191000" y="2665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5" name="C245"/>
          <p:cNvCxnSpPr/>
          <p:nvPr/>
        </p:nvCxnSpPr>
        <p:spPr>
          <a:xfrm>
            <a:off x="7001000" y="2665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6" name="C246"/>
          <p:cNvCxnSpPr/>
          <p:nvPr/>
        </p:nvCxnSpPr>
        <p:spPr>
          <a:xfrm>
            <a:off x="8811000" y="2665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47" name="C247"/>
          <p:cNvCxnSpPr/>
          <p:nvPr/>
        </p:nvCxnSpPr>
        <p:spPr>
          <a:xfrm>
            <a:off x="10621000" y="2665000"/>
            <a:ext cx="0" cy="28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228" name="Box 228"/>
          <p:cNvSpPr/>
          <p:nvPr/>
        </p:nvSpPr>
        <p:spPr>
          <a:xfrm>
            <a:off x="741000" y="2950000"/>
            <a:ext cx="1660000" cy="8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50">
                <a:solidFill>
                  <a:srgbClr val="234018"/>
                </a:solidFill>
              </a:rPr>
              <a:t>Tesouraria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Yolanda</a:t>
            </a:r>
          </a:p>
        </p:txBody>
      </p:sp>
      <p:sp>
        <p:nvSpPr>
          <p:cNvPr id="229" name="pill 229"/>
          <p:cNvSpPr/>
          <p:nvPr/>
        </p:nvSpPr>
        <p:spPr>
          <a:xfrm>
            <a:off x="1991000" y="35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30" name="Box 230"/>
          <p:cNvSpPr/>
          <p:nvPr/>
        </p:nvSpPr>
        <p:spPr>
          <a:xfrm>
            <a:off x="2551000" y="2950000"/>
            <a:ext cx="1660000" cy="8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50" dirty="0">
                <a:solidFill>
                  <a:srgbClr val="234018"/>
                </a:solidFill>
              </a:rPr>
              <a:t>Adm. e Compras internas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 dirty="0">
                <a:solidFill>
                  <a:srgbClr val="234018"/>
                </a:solidFill>
              </a:rPr>
              <a:t>Cintia</a:t>
            </a:r>
          </a:p>
        </p:txBody>
      </p:sp>
      <p:sp>
        <p:nvSpPr>
          <p:cNvPr id="231" name="pill 231"/>
          <p:cNvSpPr/>
          <p:nvPr/>
        </p:nvSpPr>
        <p:spPr>
          <a:xfrm>
            <a:off x="3801000" y="35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32" name="Box 232"/>
          <p:cNvSpPr/>
          <p:nvPr/>
        </p:nvSpPr>
        <p:spPr>
          <a:xfrm>
            <a:off x="4361000" y="2950000"/>
            <a:ext cx="1660000" cy="8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50">
                <a:solidFill>
                  <a:srgbClr val="234018"/>
                </a:solidFill>
              </a:rPr>
              <a:t>Facilities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Larissa</a:t>
            </a:r>
          </a:p>
        </p:txBody>
      </p:sp>
      <p:sp>
        <p:nvSpPr>
          <p:cNvPr id="233" name="pill 233"/>
          <p:cNvSpPr/>
          <p:nvPr/>
        </p:nvSpPr>
        <p:spPr>
          <a:xfrm>
            <a:off x="5611000" y="35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34" name="Box 234"/>
          <p:cNvSpPr/>
          <p:nvPr/>
        </p:nvSpPr>
        <p:spPr>
          <a:xfrm>
            <a:off x="6171000" y="2950000"/>
            <a:ext cx="1660000" cy="8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50">
                <a:solidFill>
                  <a:srgbClr val="234018"/>
                </a:solidFill>
              </a:rPr>
              <a:t>Jurídico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Reinaldo</a:t>
            </a:r>
          </a:p>
        </p:txBody>
      </p:sp>
      <p:sp>
        <p:nvSpPr>
          <p:cNvPr id="235" name="pill 235"/>
          <p:cNvSpPr/>
          <p:nvPr/>
        </p:nvSpPr>
        <p:spPr>
          <a:xfrm>
            <a:off x="7421000" y="35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36" name="Box 236"/>
          <p:cNvSpPr/>
          <p:nvPr/>
        </p:nvSpPr>
        <p:spPr>
          <a:xfrm>
            <a:off x="7981000" y="2950000"/>
            <a:ext cx="1660000" cy="8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50">
                <a:solidFill>
                  <a:srgbClr val="234018"/>
                </a:solidFill>
              </a:rPr>
              <a:t>Compliance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Amanda</a:t>
            </a:r>
          </a:p>
        </p:txBody>
      </p:sp>
      <p:sp>
        <p:nvSpPr>
          <p:cNvPr id="237" name="pill 237"/>
          <p:cNvSpPr/>
          <p:nvPr/>
        </p:nvSpPr>
        <p:spPr>
          <a:xfrm>
            <a:off x="9231000" y="35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38" name="Box 238"/>
          <p:cNvSpPr/>
          <p:nvPr/>
        </p:nvSpPr>
        <p:spPr>
          <a:xfrm>
            <a:off x="9791000" y="2950000"/>
            <a:ext cx="1660000" cy="85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50">
                <a:solidFill>
                  <a:srgbClr val="234018"/>
                </a:solidFill>
              </a:rPr>
              <a:t>RH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Vanessa</a:t>
            </a:r>
          </a:p>
        </p:txBody>
      </p:sp>
      <p:sp>
        <p:nvSpPr>
          <p:cNvPr id="239" name="pill 239"/>
          <p:cNvSpPr/>
          <p:nvPr/>
        </p:nvSpPr>
        <p:spPr>
          <a:xfrm>
            <a:off x="11041000" y="354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 dirty="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48" name="Box 248"/>
          <p:cNvSpPr/>
          <p:nvPr/>
        </p:nvSpPr>
        <p:spPr>
          <a:xfrm>
            <a:off x="1041000" y="4020000"/>
            <a:ext cx="1560000" cy="740000"/>
          </a:xfrm>
          <a:prstGeom prst="roundRect">
            <a:avLst>
              <a:gd name="adj" fmla="val 8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00">
                <a:solidFill>
                  <a:srgbClr val="234018"/>
                </a:solidFill>
              </a:rPr>
              <a:t>Contas a Pagar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950" b="1">
                <a:solidFill>
                  <a:srgbClr val="234018"/>
                </a:solidFill>
              </a:rPr>
              <a:t>Camila</a:t>
            </a:r>
          </a:p>
        </p:txBody>
      </p:sp>
      <p:sp>
        <p:nvSpPr>
          <p:cNvPr id="249" name="pill 249"/>
          <p:cNvSpPr/>
          <p:nvPr/>
        </p:nvSpPr>
        <p:spPr>
          <a:xfrm>
            <a:off x="2191000" y="450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50" name="Box 250"/>
          <p:cNvSpPr/>
          <p:nvPr/>
        </p:nvSpPr>
        <p:spPr>
          <a:xfrm>
            <a:off x="1041000" y="4850000"/>
            <a:ext cx="1560000" cy="740000"/>
          </a:xfrm>
          <a:prstGeom prst="roundRect">
            <a:avLst>
              <a:gd name="adj" fmla="val 8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00">
                <a:solidFill>
                  <a:srgbClr val="234018"/>
                </a:solidFill>
              </a:rPr>
              <a:t>Contas a Receber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950" b="1">
                <a:solidFill>
                  <a:srgbClr val="234018"/>
                </a:solidFill>
              </a:rPr>
              <a:t>Maria</a:t>
            </a:r>
          </a:p>
        </p:txBody>
      </p:sp>
      <p:sp>
        <p:nvSpPr>
          <p:cNvPr id="251" name="pill 251"/>
          <p:cNvSpPr/>
          <p:nvPr/>
        </p:nvSpPr>
        <p:spPr>
          <a:xfrm>
            <a:off x="2191000" y="533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52" name="Box 252"/>
          <p:cNvSpPr/>
          <p:nvPr/>
        </p:nvSpPr>
        <p:spPr>
          <a:xfrm>
            <a:off x="1041000" y="5680000"/>
            <a:ext cx="1560000" cy="740000"/>
          </a:xfrm>
          <a:prstGeom prst="roundRect">
            <a:avLst>
              <a:gd name="adj" fmla="val 8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00" dirty="0">
                <a:solidFill>
                  <a:srgbClr val="234018"/>
                </a:solidFill>
              </a:rPr>
              <a:t>Câmbio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950" b="1" dirty="0">
                <a:solidFill>
                  <a:srgbClr val="234018"/>
                </a:solidFill>
              </a:rPr>
              <a:t>Felipe Peres</a:t>
            </a:r>
          </a:p>
        </p:txBody>
      </p:sp>
      <p:sp>
        <p:nvSpPr>
          <p:cNvPr id="253" name="pill 253"/>
          <p:cNvSpPr/>
          <p:nvPr/>
        </p:nvSpPr>
        <p:spPr>
          <a:xfrm>
            <a:off x="2191000" y="616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cxnSp>
        <p:nvCxnSpPr>
          <p:cNvPr id="254" name="C254"/>
          <p:cNvCxnSpPr/>
          <p:nvPr/>
        </p:nvCxnSpPr>
        <p:spPr>
          <a:xfrm>
            <a:off x="1017666" y="3800000"/>
            <a:ext cx="0" cy="225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55" name="C255"/>
          <p:cNvCxnSpPr/>
          <p:nvPr/>
        </p:nvCxnSpPr>
        <p:spPr>
          <a:xfrm>
            <a:off x="1017666" y="4390000"/>
            <a:ext cx="23334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56" name="C256"/>
          <p:cNvCxnSpPr/>
          <p:nvPr/>
        </p:nvCxnSpPr>
        <p:spPr>
          <a:xfrm>
            <a:off x="1017666" y="5220000"/>
            <a:ext cx="23334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57" name="C257"/>
          <p:cNvCxnSpPr/>
          <p:nvPr/>
        </p:nvCxnSpPr>
        <p:spPr>
          <a:xfrm>
            <a:off x="1017666" y="6050000"/>
            <a:ext cx="23334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pic>
        <p:nvPicPr>
          <p:cNvPr id="960" name="Logo Pag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561" y="6569401"/>
            <a:ext cx="8667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"/>
          <p:cNvSpPr/>
          <p:nvPr/>
        </p:nvSpPr>
        <p:spPr>
          <a:xfrm>
            <a:off x="460000" y="600000"/>
            <a:ext cx="9000000" cy="560000"/>
          </a:xfrm>
          <a:prstGeom prst="rect">
            <a:avLst/>
          </a:prstGeom>
        </p:spPr>
        <p:txBody>
          <a:bodyPr/>
          <a:lstStyle/>
          <a:p>
            <a:r>
              <a:rPr lang="pt-BR" sz="2600" b="1">
                <a:solidFill>
                  <a:srgbClr val="234018"/>
                </a:solidFill>
              </a:rPr>
              <a:t>Produtos &amp; Operações</a:t>
            </a:r>
          </a:p>
        </p:txBody>
      </p:sp>
      <p:sp>
        <p:nvSpPr>
          <p:cNvPr id="289" name="desc"/>
          <p:cNvSpPr/>
          <p:nvPr/>
        </p:nvSpPr>
        <p:spPr>
          <a:xfrm>
            <a:off x="460000" y="1150000"/>
            <a:ext cx="9000000" cy="280000"/>
          </a:xfrm>
          <a:prstGeom prst="rect">
            <a:avLst/>
          </a:prstGeom>
        </p:spPr>
        <p:txBody>
          <a:bodyPr/>
          <a:lstStyle/>
          <a:p>
            <a:r>
              <a:rPr lang="pt-BR" sz="1000" spc="150">
                <a:solidFill>
                  <a:srgbClr val="4E9E24"/>
                </a:solidFill>
              </a:rPr>
              <a:t>RAQUEL — PMO, PRODUTO, UX &amp; OPERAÇÕES</a:t>
            </a:r>
          </a:p>
        </p:txBody>
      </p:sp>
      <p:sp>
        <p:nvSpPr>
          <p:cNvPr id="290" name="leglab"/>
          <p:cNvSpPr/>
          <p:nvPr/>
        </p:nvSpPr>
        <p:spPr>
          <a:xfrm>
            <a:off x="8050000" y="345000"/>
            <a:ext cx="1050000" cy="240000"/>
          </a:xfrm>
          <a:prstGeom prst="rect">
            <a:avLst/>
          </a:prstGeom>
        </p:spPr>
        <p:txBody>
          <a:bodyPr anchor="ctr"/>
          <a:lstStyle/>
          <a:p>
            <a:pPr algn="r"/>
            <a:r>
              <a:rPr lang="pt-BR" sz="800" b="1" spc="120">
                <a:solidFill>
                  <a:srgbClr val="4E9E24"/>
                </a:solidFill>
              </a:rPr>
              <a:t>VÍNCULO</a:t>
            </a:r>
          </a:p>
        </p:txBody>
      </p:sp>
      <p:sp>
        <p:nvSpPr>
          <p:cNvPr id="291" name="pill 291"/>
          <p:cNvSpPr/>
          <p:nvPr/>
        </p:nvSpPr>
        <p:spPr>
          <a:xfrm>
            <a:off x="9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92" name="lg"/>
          <p:cNvSpPr/>
          <p:nvPr/>
        </p:nvSpPr>
        <p:spPr>
          <a:xfrm>
            <a:off x="9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Efetivo</a:t>
            </a:r>
          </a:p>
        </p:txBody>
      </p:sp>
      <p:sp>
        <p:nvSpPr>
          <p:cNvPr id="293" name="pill 293"/>
          <p:cNvSpPr/>
          <p:nvPr/>
        </p:nvSpPr>
        <p:spPr>
          <a:xfrm>
            <a:off x="10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94" name="lg"/>
          <p:cNvSpPr/>
          <p:nvPr/>
        </p:nvSpPr>
        <p:spPr>
          <a:xfrm>
            <a:off x="10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Pessoa Jurídica</a:t>
            </a:r>
          </a:p>
        </p:txBody>
      </p:sp>
      <p:sp>
        <p:nvSpPr>
          <p:cNvPr id="295" name="pill 295"/>
          <p:cNvSpPr/>
          <p:nvPr/>
        </p:nvSpPr>
        <p:spPr>
          <a:xfrm>
            <a:off x="11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296" name="lg"/>
          <p:cNvSpPr/>
          <p:nvPr/>
        </p:nvSpPr>
        <p:spPr>
          <a:xfrm>
            <a:off x="11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Prest. Serviço</a:t>
            </a:r>
          </a:p>
        </p:txBody>
      </p:sp>
      <p:sp>
        <p:nvSpPr>
          <p:cNvPr id="268" name="Box 268"/>
          <p:cNvSpPr/>
          <p:nvPr/>
        </p:nvSpPr>
        <p:spPr>
          <a:xfrm>
            <a:off x="4796000" y="1700000"/>
            <a:ext cx="2600000" cy="760000"/>
          </a:xfrm>
          <a:prstGeom prst="roundRect">
            <a:avLst>
              <a:gd name="adj" fmla="val 8000"/>
            </a:avLst>
          </a:prstGeom>
          <a:solidFill>
            <a:srgbClr val="4E9E24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 dirty="0">
                <a:solidFill>
                  <a:srgbClr val="FFFFFF"/>
                </a:solidFill>
              </a:rPr>
              <a:t>Gerente de Produtos &amp; Operações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 dirty="0">
                <a:solidFill>
                  <a:srgbClr val="FFFFFF"/>
                </a:solidFill>
              </a:rPr>
              <a:t>Raquel B. Cruz</a:t>
            </a:r>
          </a:p>
        </p:txBody>
      </p:sp>
      <p:sp>
        <p:nvSpPr>
          <p:cNvPr id="269" name="pill 269"/>
          <p:cNvSpPr/>
          <p:nvPr/>
        </p:nvSpPr>
        <p:spPr>
          <a:xfrm>
            <a:off x="6986000" y="220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cxnSp>
        <p:nvCxnSpPr>
          <p:cNvPr id="280" name="C280"/>
          <p:cNvCxnSpPr/>
          <p:nvPr/>
        </p:nvCxnSpPr>
        <p:spPr>
          <a:xfrm>
            <a:off x="6096000" y="2460000"/>
            <a:ext cx="0" cy="52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81" name="C281"/>
          <p:cNvCxnSpPr/>
          <p:nvPr/>
        </p:nvCxnSpPr>
        <p:spPr>
          <a:xfrm>
            <a:off x="1856000" y="2980000"/>
            <a:ext cx="84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82" name="C282"/>
          <p:cNvCxnSpPr/>
          <p:nvPr/>
        </p:nvCxnSpPr>
        <p:spPr>
          <a:xfrm>
            <a:off x="1856000" y="2980000"/>
            <a:ext cx="0" cy="52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83" name="C283"/>
          <p:cNvCxnSpPr/>
          <p:nvPr/>
        </p:nvCxnSpPr>
        <p:spPr>
          <a:xfrm>
            <a:off x="3976000" y="2980000"/>
            <a:ext cx="0" cy="52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84" name="C284"/>
          <p:cNvCxnSpPr/>
          <p:nvPr/>
        </p:nvCxnSpPr>
        <p:spPr>
          <a:xfrm>
            <a:off x="6096000" y="2980000"/>
            <a:ext cx="0" cy="52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85" name="C285"/>
          <p:cNvCxnSpPr/>
          <p:nvPr/>
        </p:nvCxnSpPr>
        <p:spPr>
          <a:xfrm>
            <a:off x="8216000" y="2980000"/>
            <a:ext cx="0" cy="52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286" name="C286"/>
          <p:cNvCxnSpPr/>
          <p:nvPr/>
        </p:nvCxnSpPr>
        <p:spPr>
          <a:xfrm>
            <a:off x="10336000" y="2980000"/>
            <a:ext cx="0" cy="52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270" name="Box 270"/>
          <p:cNvSpPr/>
          <p:nvPr/>
        </p:nvSpPr>
        <p:spPr>
          <a:xfrm>
            <a:off x="906000" y="3500000"/>
            <a:ext cx="1900000" cy="9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80">
                <a:solidFill>
                  <a:srgbClr val="234018"/>
                </a:solidFill>
              </a:rPr>
              <a:t>Projetos / PMO Ágil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00" b="1">
                <a:solidFill>
                  <a:srgbClr val="234018"/>
                </a:solidFill>
              </a:rPr>
              <a:t>Eduardo</a:t>
            </a:r>
          </a:p>
        </p:txBody>
      </p:sp>
      <p:sp>
        <p:nvSpPr>
          <p:cNvPr id="271" name="pill 271"/>
          <p:cNvSpPr/>
          <p:nvPr/>
        </p:nvSpPr>
        <p:spPr>
          <a:xfrm>
            <a:off x="2396000" y="422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72" name="Box 272"/>
          <p:cNvSpPr/>
          <p:nvPr/>
        </p:nvSpPr>
        <p:spPr>
          <a:xfrm>
            <a:off x="3026000" y="3500000"/>
            <a:ext cx="1900000" cy="9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80" dirty="0">
                <a:solidFill>
                  <a:srgbClr val="234018"/>
                </a:solidFill>
              </a:rPr>
              <a:t>Produtos &amp; Operações - </a:t>
            </a:r>
            <a:r>
              <a:rPr lang="pt-BR" sz="780" dirty="0" err="1">
                <a:solidFill>
                  <a:srgbClr val="234018"/>
                </a:solidFill>
              </a:rPr>
              <a:t>Lydians</a:t>
            </a:r>
            <a:endParaRPr lang="pt-BR" sz="780" dirty="0">
              <a:solidFill>
                <a:srgbClr val="234018"/>
              </a:solidFill>
            </a:endParaRP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00" b="1" dirty="0">
                <a:solidFill>
                  <a:srgbClr val="234018"/>
                </a:solidFill>
              </a:rPr>
              <a:t>Eliana</a:t>
            </a:r>
          </a:p>
        </p:txBody>
      </p:sp>
      <p:sp>
        <p:nvSpPr>
          <p:cNvPr id="273" name="pill 273"/>
          <p:cNvSpPr/>
          <p:nvPr/>
        </p:nvSpPr>
        <p:spPr>
          <a:xfrm>
            <a:off x="4516000" y="422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74" name="Box 274"/>
          <p:cNvSpPr/>
          <p:nvPr/>
        </p:nvSpPr>
        <p:spPr>
          <a:xfrm>
            <a:off x="5146000" y="3500000"/>
            <a:ext cx="1900000" cy="9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80" dirty="0">
                <a:solidFill>
                  <a:srgbClr val="234018"/>
                </a:solidFill>
              </a:rPr>
              <a:t>P0 – BAAS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00" b="1" dirty="0">
                <a:solidFill>
                  <a:srgbClr val="234018"/>
                </a:solidFill>
              </a:rPr>
              <a:t>Erik</a:t>
            </a:r>
          </a:p>
        </p:txBody>
      </p:sp>
      <p:sp>
        <p:nvSpPr>
          <p:cNvPr id="275" name="pill 275"/>
          <p:cNvSpPr/>
          <p:nvPr/>
        </p:nvSpPr>
        <p:spPr>
          <a:xfrm>
            <a:off x="6636000" y="422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276" name="Box 276"/>
          <p:cNvSpPr/>
          <p:nvPr/>
        </p:nvSpPr>
        <p:spPr>
          <a:xfrm>
            <a:off x="7266000" y="3500000"/>
            <a:ext cx="1900000" cy="9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80">
                <a:solidFill>
                  <a:srgbClr val="234018"/>
                </a:solidFill>
              </a:rPr>
              <a:t>Designer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00" b="1">
                <a:solidFill>
                  <a:srgbClr val="234018"/>
                </a:solidFill>
              </a:rPr>
              <a:t>Filippi</a:t>
            </a:r>
          </a:p>
        </p:txBody>
      </p:sp>
      <p:sp>
        <p:nvSpPr>
          <p:cNvPr id="277" name="pill 277"/>
          <p:cNvSpPr/>
          <p:nvPr/>
        </p:nvSpPr>
        <p:spPr>
          <a:xfrm>
            <a:off x="8756000" y="422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78" name="Box 278"/>
          <p:cNvSpPr/>
          <p:nvPr/>
        </p:nvSpPr>
        <p:spPr>
          <a:xfrm>
            <a:off x="9386000" y="3500000"/>
            <a:ext cx="1900000" cy="9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80">
                <a:solidFill>
                  <a:srgbClr val="234018"/>
                </a:solidFill>
              </a:rPr>
              <a:t>Operações Cartões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00" b="1">
                <a:solidFill>
                  <a:srgbClr val="234018"/>
                </a:solidFill>
              </a:rPr>
              <a:t>Sabrina</a:t>
            </a:r>
          </a:p>
        </p:txBody>
      </p:sp>
      <p:sp>
        <p:nvSpPr>
          <p:cNvPr id="279" name="pill 279"/>
          <p:cNvSpPr/>
          <p:nvPr/>
        </p:nvSpPr>
        <p:spPr>
          <a:xfrm>
            <a:off x="10876000" y="422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pic>
        <p:nvPicPr>
          <p:cNvPr id="960" name="Logo Pag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561" y="6569401"/>
            <a:ext cx="8667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itle"/>
          <p:cNvSpPr/>
          <p:nvPr/>
        </p:nvSpPr>
        <p:spPr>
          <a:xfrm>
            <a:off x="460000" y="600000"/>
            <a:ext cx="9000000" cy="560000"/>
          </a:xfrm>
          <a:prstGeom prst="rect">
            <a:avLst/>
          </a:prstGeom>
        </p:spPr>
        <p:txBody>
          <a:bodyPr/>
          <a:lstStyle/>
          <a:p>
            <a:r>
              <a:rPr lang="pt-BR" sz="2600" b="1">
                <a:solidFill>
                  <a:srgbClr val="234018"/>
                </a:solidFill>
              </a:rPr>
              <a:t>Tecnologia da Informação</a:t>
            </a:r>
          </a:p>
        </p:txBody>
      </p:sp>
      <p:sp>
        <p:nvSpPr>
          <p:cNvPr id="329" name="desc"/>
          <p:cNvSpPr/>
          <p:nvPr/>
        </p:nvSpPr>
        <p:spPr>
          <a:xfrm>
            <a:off x="460000" y="1150000"/>
            <a:ext cx="9000000" cy="280000"/>
          </a:xfrm>
          <a:prstGeom prst="rect">
            <a:avLst/>
          </a:prstGeom>
        </p:spPr>
        <p:txBody>
          <a:bodyPr/>
          <a:lstStyle/>
          <a:p>
            <a:r>
              <a:rPr lang="pt-BR" sz="1000" spc="150">
                <a:solidFill>
                  <a:srgbClr val="4E9E24"/>
                </a:solidFill>
              </a:rPr>
              <a:t>RAFAEL — COORDENAÇÃO TÉCNICA &amp; ARQUITETURA DE LONGO PRAZO</a:t>
            </a:r>
          </a:p>
        </p:txBody>
      </p:sp>
      <p:sp>
        <p:nvSpPr>
          <p:cNvPr id="330" name="leglab"/>
          <p:cNvSpPr/>
          <p:nvPr/>
        </p:nvSpPr>
        <p:spPr>
          <a:xfrm>
            <a:off x="8050000" y="345000"/>
            <a:ext cx="1050000" cy="240000"/>
          </a:xfrm>
          <a:prstGeom prst="rect">
            <a:avLst/>
          </a:prstGeom>
        </p:spPr>
        <p:txBody>
          <a:bodyPr anchor="ctr"/>
          <a:lstStyle/>
          <a:p>
            <a:pPr algn="r"/>
            <a:r>
              <a:rPr lang="pt-BR" sz="800" b="1" spc="120">
                <a:solidFill>
                  <a:srgbClr val="4E9E24"/>
                </a:solidFill>
              </a:rPr>
              <a:t>VÍNCULO</a:t>
            </a:r>
          </a:p>
        </p:txBody>
      </p:sp>
      <p:sp>
        <p:nvSpPr>
          <p:cNvPr id="331" name="pill 331"/>
          <p:cNvSpPr/>
          <p:nvPr/>
        </p:nvSpPr>
        <p:spPr>
          <a:xfrm>
            <a:off x="9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332" name="lg"/>
          <p:cNvSpPr/>
          <p:nvPr/>
        </p:nvSpPr>
        <p:spPr>
          <a:xfrm>
            <a:off x="9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Efetivo</a:t>
            </a:r>
          </a:p>
        </p:txBody>
      </p:sp>
      <p:sp>
        <p:nvSpPr>
          <p:cNvPr id="333" name="pill 333"/>
          <p:cNvSpPr/>
          <p:nvPr/>
        </p:nvSpPr>
        <p:spPr>
          <a:xfrm>
            <a:off x="10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334" name="lg"/>
          <p:cNvSpPr/>
          <p:nvPr/>
        </p:nvSpPr>
        <p:spPr>
          <a:xfrm>
            <a:off x="10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Pessoa Jurídica</a:t>
            </a:r>
          </a:p>
        </p:txBody>
      </p:sp>
      <p:sp>
        <p:nvSpPr>
          <p:cNvPr id="335" name="pill 335"/>
          <p:cNvSpPr/>
          <p:nvPr/>
        </p:nvSpPr>
        <p:spPr>
          <a:xfrm>
            <a:off x="11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336" name="lg"/>
          <p:cNvSpPr/>
          <p:nvPr/>
        </p:nvSpPr>
        <p:spPr>
          <a:xfrm>
            <a:off x="11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Prest. Serviço</a:t>
            </a:r>
          </a:p>
        </p:txBody>
      </p:sp>
      <p:sp>
        <p:nvSpPr>
          <p:cNvPr id="297" name="Box 297"/>
          <p:cNvSpPr/>
          <p:nvPr/>
        </p:nvSpPr>
        <p:spPr>
          <a:xfrm>
            <a:off x="4796000" y="1600000"/>
            <a:ext cx="2600000" cy="760000"/>
          </a:xfrm>
          <a:prstGeom prst="roundRect">
            <a:avLst>
              <a:gd name="adj" fmla="val 8000"/>
            </a:avLst>
          </a:prstGeom>
          <a:solidFill>
            <a:srgbClr val="4E9E24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FFFFFF"/>
                </a:solidFill>
              </a:rPr>
              <a:t>Gerente de TI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200" b="1">
                <a:solidFill>
                  <a:srgbClr val="FFFFFF"/>
                </a:solidFill>
              </a:rPr>
              <a:t>Rafael Magalhães</a:t>
            </a:r>
          </a:p>
        </p:txBody>
      </p:sp>
      <p:sp>
        <p:nvSpPr>
          <p:cNvPr id="298" name="pill 298"/>
          <p:cNvSpPr/>
          <p:nvPr/>
        </p:nvSpPr>
        <p:spPr>
          <a:xfrm>
            <a:off x="6986000" y="210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cxnSp>
        <p:nvCxnSpPr>
          <p:cNvPr id="305" name="C305"/>
          <p:cNvCxnSpPr/>
          <p:nvPr/>
        </p:nvCxnSpPr>
        <p:spPr>
          <a:xfrm>
            <a:off x="6096000" y="2360000"/>
            <a:ext cx="0" cy="24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06" name="C306"/>
          <p:cNvCxnSpPr/>
          <p:nvPr/>
        </p:nvCxnSpPr>
        <p:spPr>
          <a:xfrm>
            <a:off x="3276000" y="2605000"/>
            <a:ext cx="564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07" name="C307"/>
          <p:cNvCxnSpPr/>
          <p:nvPr/>
        </p:nvCxnSpPr>
        <p:spPr>
          <a:xfrm>
            <a:off x="3276000" y="2605000"/>
            <a:ext cx="0" cy="24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08" name="C308"/>
          <p:cNvCxnSpPr/>
          <p:nvPr/>
        </p:nvCxnSpPr>
        <p:spPr>
          <a:xfrm>
            <a:off x="6096000" y="2605000"/>
            <a:ext cx="0" cy="24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09" name="C309"/>
          <p:cNvCxnSpPr/>
          <p:nvPr/>
        </p:nvCxnSpPr>
        <p:spPr>
          <a:xfrm>
            <a:off x="8916000" y="2605000"/>
            <a:ext cx="0" cy="245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299" name="Box 299"/>
          <p:cNvSpPr/>
          <p:nvPr/>
        </p:nvSpPr>
        <p:spPr>
          <a:xfrm>
            <a:off x="2026000" y="2850000"/>
            <a:ext cx="2500000" cy="8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234018"/>
                </a:solidFill>
              </a:rPr>
              <a:t>DBA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50" b="1">
                <a:solidFill>
                  <a:srgbClr val="234018"/>
                </a:solidFill>
              </a:rPr>
              <a:t>Carlos Eduardo</a:t>
            </a:r>
          </a:p>
        </p:txBody>
      </p:sp>
      <p:sp>
        <p:nvSpPr>
          <p:cNvPr id="300" name="pill 300"/>
          <p:cNvSpPr/>
          <p:nvPr/>
        </p:nvSpPr>
        <p:spPr>
          <a:xfrm>
            <a:off x="4116000" y="34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301" name="Box 301"/>
          <p:cNvSpPr/>
          <p:nvPr/>
        </p:nvSpPr>
        <p:spPr>
          <a:xfrm>
            <a:off x="4846000" y="2850000"/>
            <a:ext cx="2500000" cy="8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>
                <a:solidFill>
                  <a:srgbClr val="234018"/>
                </a:solidFill>
              </a:rPr>
              <a:t>Coordenadora de TI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50" b="1">
                <a:solidFill>
                  <a:srgbClr val="234018"/>
                </a:solidFill>
              </a:rPr>
              <a:t>Marcia</a:t>
            </a:r>
          </a:p>
        </p:txBody>
      </p:sp>
      <p:sp>
        <p:nvSpPr>
          <p:cNvPr id="302" name="pill 302"/>
          <p:cNvSpPr/>
          <p:nvPr/>
        </p:nvSpPr>
        <p:spPr>
          <a:xfrm>
            <a:off x="6936000" y="34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303" name="Box 303"/>
          <p:cNvSpPr/>
          <p:nvPr/>
        </p:nvSpPr>
        <p:spPr>
          <a:xfrm>
            <a:off x="7666000" y="2850000"/>
            <a:ext cx="2500000" cy="880000"/>
          </a:xfrm>
          <a:prstGeom prst="roundRect">
            <a:avLst>
              <a:gd name="adj" fmla="val 8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800" dirty="0">
                <a:solidFill>
                  <a:srgbClr val="234018"/>
                </a:solidFill>
              </a:rPr>
              <a:t>GTD / Infraestrutura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150" b="1" dirty="0">
                <a:solidFill>
                  <a:srgbClr val="234018"/>
                </a:solidFill>
              </a:rPr>
              <a:t>Diogo</a:t>
            </a:r>
          </a:p>
        </p:txBody>
      </p:sp>
      <p:sp>
        <p:nvSpPr>
          <p:cNvPr id="304" name="pill 304"/>
          <p:cNvSpPr/>
          <p:nvPr/>
        </p:nvSpPr>
        <p:spPr>
          <a:xfrm>
            <a:off x="9756000" y="34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310" name="Box 310"/>
          <p:cNvSpPr/>
          <p:nvPr/>
        </p:nvSpPr>
        <p:spPr>
          <a:xfrm>
            <a:off x="1766000" y="4450000"/>
            <a:ext cx="1620000" cy="780000"/>
          </a:xfrm>
          <a:prstGeom prst="roundRect">
            <a:avLst>
              <a:gd name="adj" fmla="val 8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20" dirty="0">
                <a:solidFill>
                  <a:srgbClr val="234018"/>
                </a:solidFill>
              </a:rPr>
              <a:t>Desenvolvimento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 dirty="0">
                <a:solidFill>
                  <a:srgbClr val="234018"/>
                </a:solidFill>
              </a:rPr>
              <a:t>Thaygor</a:t>
            </a:r>
          </a:p>
        </p:txBody>
      </p:sp>
      <p:sp>
        <p:nvSpPr>
          <p:cNvPr id="311" name="pill 311"/>
          <p:cNvSpPr/>
          <p:nvPr/>
        </p:nvSpPr>
        <p:spPr>
          <a:xfrm>
            <a:off x="2976000" y="49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312" name="Box 312"/>
          <p:cNvSpPr/>
          <p:nvPr/>
        </p:nvSpPr>
        <p:spPr>
          <a:xfrm>
            <a:off x="3526000" y="4450000"/>
            <a:ext cx="1620000" cy="780000"/>
          </a:xfrm>
          <a:prstGeom prst="roundRect">
            <a:avLst>
              <a:gd name="adj" fmla="val 8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20">
                <a:solidFill>
                  <a:srgbClr val="234018"/>
                </a:solidFill>
              </a:rPr>
              <a:t>RPA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Felipp</a:t>
            </a:r>
          </a:p>
        </p:txBody>
      </p:sp>
      <p:sp>
        <p:nvSpPr>
          <p:cNvPr id="313" name="pill 313"/>
          <p:cNvSpPr/>
          <p:nvPr/>
        </p:nvSpPr>
        <p:spPr>
          <a:xfrm>
            <a:off x="4736000" y="49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314" name="Box 314"/>
          <p:cNvSpPr/>
          <p:nvPr/>
        </p:nvSpPr>
        <p:spPr>
          <a:xfrm>
            <a:off x="5286000" y="4450000"/>
            <a:ext cx="162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rnd">
            <a:solidFill>
              <a:srgbClr val="4E9E24"/>
            </a:solidFill>
            <a:prstDash val="dash"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20">
                <a:solidFill>
                  <a:srgbClr val="234018"/>
                </a:solidFill>
              </a:rPr>
              <a:t>Desenvolvimento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TBD</a:t>
            </a:r>
          </a:p>
        </p:txBody>
      </p:sp>
      <p:sp>
        <p:nvSpPr>
          <p:cNvPr id="315" name="pill 315"/>
          <p:cNvSpPr/>
          <p:nvPr/>
        </p:nvSpPr>
        <p:spPr>
          <a:xfrm>
            <a:off x="6496000" y="49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316" name="Box 316"/>
          <p:cNvSpPr/>
          <p:nvPr/>
        </p:nvSpPr>
        <p:spPr>
          <a:xfrm>
            <a:off x="7046000" y="4450000"/>
            <a:ext cx="162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rnd">
            <a:solidFill>
              <a:srgbClr val="4E9E24"/>
            </a:solidFill>
            <a:prstDash val="dash"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20">
                <a:solidFill>
                  <a:srgbClr val="234018"/>
                </a:solidFill>
              </a:rPr>
              <a:t>QA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TBD</a:t>
            </a:r>
          </a:p>
        </p:txBody>
      </p:sp>
      <p:sp>
        <p:nvSpPr>
          <p:cNvPr id="317" name="pill 317"/>
          <p:cNvSpPr/>
          <p:nvPr/>
        </p:nvSpPr>
        <p:spPr>
          <a:xfrm>
            <a:off x="8256000" y="49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318" name="Box 318"/>
          <p:cNvSpPr/>
          <p:nvPr/>
        </p:nvSpPr>
        <p:spPr>
          <a:xfrm>
            <a:off x="8806000" y="4450000"/>
            <a:ext cx="162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rnd">
            <a:solidFill>
              <a:srgbClr val="4E9E24"/>
            </a:solidFill>
            <a:prstDash val="dash"/>
          </a:ln>
        </p:spPr>
        <p:txBody>
          <a:bodyPr wrap="square" lIns="45720" tIns="18000" rIns="45720" bIns="230000" anchor="ctr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pt-BR" sz="720">
                <a:solidFill>
                  <a:srgbClr val="234018"/>
                </a:solidFill>
              </a:rPr>
              <a:t>Desenvolvimento</a:t>
            </a:r>
          </a:p>
          <a:p>
            <a:pPr algn="ctr">
              <a:lnSpc>
                <a:spcPct val="96000"/>
              </a:lnSpc>
              <a:spcBef>
                <a:spcPts val="100"/>
              </a:spcBef>
            </a:pPr>
            <a:r>
              <a:rPr lang="pt-BR" sz="1000" b="1">
                <a:solidFill>
                  <a:srgbClr val="234018"/>
                </a:solidFill>
              </a:rPr>
              <a:t>TBD</a:t>
            </a:r>
          </a:p>
        </p:txBody>
      </p:sp>
      <p:sp>
        <p:nvSpPr>
          <p:cNvPr id="319" name="pill 319"/>
          <p:cNvSpPr/>
          <p:nvPr/>
        </p:nvSpPr>
        <p:spPr>
          <a:xfrm>
            <a:off x="10016000" y="4975000"/>
            <a:ext cx="360000" cy="21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cxnSp>
        <p:nvCxnSpPr>
          <p:cNvPr id="320" name="C320"/>
          <p:cNvCxnSpPr/>
          <p:nvPr/>
        </p:nvCxnSpPr>
        <p:spPr>
          <a:xfrm>
            <a:off x="6096000" y="3730000"/>
            <a:ext cx="0" cy="36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21" name="C321"/>
          <p:cNvCxnSpPr/>
          <p:nvPr/>
        </p:nvCxnSpPr>
        <p:spPr>
          <a:xfrm>
            <a:off x="2576000" y="4090000"/>
            <a:ext cx="704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22" name="C322"/>
          <p:cNvCxnSpPr/>
          <p:nvPr/>
        </p:nvCxnSpPr>
        <p:spPr>
          <a:xfrm>
            <a:off x="2576000" y="4090000"/>
            <a:ext cx="0" cy="36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23" name="C323"/>
          <p:cNvCxnSpPr/>
          <p:nvPr/>
        </p:nvCxnSpPr>
        <p:spPr>
          <a:xfrm>
            <a:off x="4336000" y="4090000"/>
            <a:ext cx="0" cy="36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24" name="C324"/>
          <p:cNvCxnSpPr/>
          <p:nvPr/>
        </p:nvCxnSpPr>
        <p:spPr>
          <a:xfrm>
            <a:off x="6096000" y="4090000"/>
            <a:ext cx="0" cy="36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25" name="C325"/>
          <p:cNvCxnSpPr/>
          <p:nvPr/>
        </p:nvCxnSpPr>
        <p:spPr>
          <a:xfrm>
            <a:off x="7856000" y="4090000"/>
            <a:ext cx="0" cy="36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326" name="C326"/>
          <p:cNvCxnSpPr/>
          <p:nvPr/>
        </p:nvCxnSpPr>
        <p:spPr>
          <a:xfrm>
            <a:off x="9616000" y="4090000"/>
            <a:ext cx="0" cy="36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pic>
        <p:nvPicPr>
          <p:cNvPr id="960" name="Logo Pag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561" y="6569401"/>
            <a:ext cx="8667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"/>
          <p:cNvSpPr/>
          <p:nvPr/>
        </p:nvSpPr>
        <p:spPr>
          <a:xfrm>
            <a:off x="460000" y="600000"/>
            <a:ext cx="9000000" cy="560000"/>
          </a:xfrm>
          <a:prstGeom prst="rect">
            <a:avLst/>
          </a:prstGeom>
        </p:spPr>
        <p:txBody>
          <a:bodyPr/>
          <a:lstStyle/>
          <a:p>
            <a:r>
              <a:rPr lang="pt-BR" sz="2600" b="1">
                <a:solidFill>
                  <a:srgbClr val="234018"/>
                </a:solidFill>
              </a:rPr>
              <a:t>Organograma Corporativo — Visão Completa</a:t>
            </a:r>
          </a:p>
        </p:txBody>
      </p:sp>
      <p:sp>
        <p:nvSpPr>
          <p:cNvPr id="193" name="desc"/>
          <p:cNvSpPr/>
          <p:nvPr/>
        </p:nvSpPr>
        <p:spPr>
          <a:xfrm>
            <a:off x="460000" y="1150000"/>
            <a:ext cx="9000000" cy="280000"/>
          </a:xfrm>
          <a:prstGeom prst="rect">
            <a:avLst/>
          </a:prstGeom>
        </p:spPr>
        <p:txBody>
          <a:bodyPr/>
          <a:lstStyle/>
          <a:p>
            <a:r>
              <a:rPr lang="pt-BR" sz="1000" spc="150">
                <a:solidFill>
                  <a:srgbClr val="4E9E24"/>
                </a:solidFill>
              </a:rPr>
              <a:t>ESTRUTURA CONSOLIDADA — DA PRESIDÊNCIA ÀS EQUIPES</a:t>
            </a:r>
          </a:p>
        </p:txBody>
      </p:sp>
      <p:sp>
        <p:nvSpPr>
          <p:cNvPr id="194" name="leglab"/>
          <p:cNvSpPr/>
          <p:nvPr/>
        </p:nvSpPr>
        <p:spPr>
          <a:xfrm>
            <a:off x="8050000" y="345000"/>
            <a:ext cx="1050000" cy="240000"/>
          </a:xfrm>
          <a:prstGeom prst="rect">
            <a:avLst/>
          </a:prstGeom>
        </p:spPr>
        <p:txBody>
          <a:bodyPr anchor="ctr"/>
          <a:lstStyle/>
          <a:p>
            <a:pPr algn="r"/>
            <a:r>
              <a:rPr lang="pt-BR" sz="800" b="1" spc="120">
                <a:solidFill>
                  <a:srgbClr val="4E9E24"/>
                </a:solidFill>
              </a:rPr>
              <a:t>VÍNCULO</a:t>
            </a:r>
          </a:p>
        </p:txBody>
      </p:sp>
      <p:sp>
        <p:nvSpPr>
          <p:cNvPr id="195" name="pill 195"/>
          <p:cNvSpPr/>
          <p:nvPr/>
        </p:nvSpPr>
        <p:spPr>
          <a:xfrm>
            <a:off x="9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96" name="lg"/>
          <p:cNvSpPr/>
          <p:nvPr/>
        </p:nvSpPr>
        <p:spPr>
          <a:xfrm>
            <a:off x="9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Efetivo</a:t>
            </a:r>
          </a:p>
        </p:txBody>
      </p:sp>
      <p:sp>
        <p:nvSpPr>
          <p:cNvPr id="197" name="pill 197"/>
          <p:cNvSpPr/>
          <p:nvPr/>
        </p:nvSpPr>
        <p:spPr>
          <a:xfrm>
            <a:off x="10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98" name="lg"/>
          <p:cNvSpPr/>
          <p:nvPr/>
        </p:nvSpPr>
        <p:spPr>
          <a:xfrm>
            <a:off x="10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Pessoa Jurídica</a:t>
            </a:r>
          </a:p>
        </p:txBody>
      </p:sp>
      <p:sp>
        <p:nvSpPr>
          <p:cNvPr id="199" name="pill 199"/>
          <p:cNvSpPr/>
          <p:nvPr/>
        </p:nvSpPr>
        <p:spPr>
          <a:xfrm>
            <a:off x="11185000" y="365000"/>
            <a:ext cx="330000" cy="20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200" name="lg"/>
          <p:cNvSpPr/>
          <p:nvPr/>
        </p:nvSpPr>
        <p:spPr>
          <a:xfrm>
            <a:off x="11540000" y="345000"/>
            <a:ext cx="620000" cy="240000"/>
          </a:xfrm>
          <a:prstGeom prst="rect">
            <a:avLst/>
          </a:prstGeom>
        </p:spPr>
        <p:txBody>
          <a:bodyPr anchor="ctr"/>
          <a:lstStyle/>
          <a:p>
            <a:r>
              <a:rPr lang="pt-BR" sz="700">
                <a:solidFill>
                  <a:srgbClr val="234018"/>
                </a:solidFill>
              </a:rPr>
              <a:t>Prest. Serviço</a:t>
            </a:r>
          </a:p>
        </p:txBody>
      </p:sp>
      <p:sp>
        <p:nvSpPr>
          <p:cNvPr id="101" name="Box 101"/>
          <p:cNvSpPr/>
          <p:nvPr/>
        </p:nvSpPr>
        <p:spPr>
          <a:xfrm>
            <a:off x="4646000" y="1560000"/>
            <a:ext cx="2900000" cy="560000"/>
          </a:xfrm>
          <a:prstGeom prst="roundRect">
            <a:avLst>
              <a:gd name="adj" fmla="val 10000"/>
            </a:avLst>
          </a:prstGeom>
          <a:solidFill>
            <a:srgbClr val="4E9E24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700">
                <a:solidFill>
                  <a:srgbClr val="FFFFFF"/>
                </a:solidFill>
              </a:rPr>
              <a:t>Diretor Presidente (CEO)</a:t>
            </a:r>
          </a:p>
          <a:p>
            <a:pPr algn="l">
              <a:lnSpc>
                <a:spcPct val="96000"/>
              </a:lnSpc>
            </a:pPr>
            <a:r>
              <a:rPr lang="pt-BR" sz="1050" b="1">
                <a:solidFill>
                  <a:srgbClr val="FFFFFF"/>
                </a:solidFill>
              </a:rPr>
              <a:t>Fernando Candido</a:t>
            </a:r>
          </a:p>
        </p:txBody>
      </p:sp>
      <p:cxnSp>
        <p:nvCxnSpPr>
          <p:cNvPr id="185" name="C185"/>
          <p:cNvCxnSpPr/>
          <p:nvPr/>
        </p:nvCxnSpPr>
        <p:spPr>
          <a:xfrm>
            <a:off x="6096000" y="2120000"/>
            <a:ext cx="0" cy="9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86" name="C186"/>
          <p:cNvCxnSpPr/>
          <p:nvPr/>
        </p:nvCxnSpPr>
        <p:spPr>
          <a:xfrm>
            <a:off x="1869000" y="2210000"/>
            <a:ext cx="8454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87" name="C187"/>
          <p:cNvCxnSpPr/>
          <p:nvPr/>
        </p:nvCxnSpPr>
        <p:spPr>
          <a:xfrm>
            <a:off x="1869000" y="2210000"/>
            <a:ext cx="0" cy="9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88" name="C188"/>
          <p:cNvCxnSpPr/>
          <p:nvPr/>
        </p:nvCxnSpPr>
        <p:spPr>
          <a:xfrm>
            <a:off x="4687000" y="2210000"/>
            <a:ext cx="0" cy="9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89" name="C189"/>
          <p:cNvCxnSpPr/>
          <p:nvPr/>
        </p:nvCxnSpPr>
        <p:spPr>
          <a:xfrm>
            <a:off x="7505000" y="2210000"/>
            <a:ext cx="0" cy="9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90" name="C190"/>
          <p:cNvCxnSpPr/>
          <p:nvPr/>
        </p:nvCxnSpPr>
        <p:spPr>
          <a:xfrm>
            <a:off x="10323000" y="2210000"/>
            <a:ext cx="0" cy="90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102" name="Box 102"/>
          <p:cNvSpPr/>
          <p:nvPr/>
        </p:nvSpPr>
        <p:spPr>
          <a:xfrm>
            <a:off x="609000" y="2300000"/>
            <a:ext cx="2520000" cy="540000"/>
          </a:xfrm>
          <a:prstGeom prst="roundRect">
            <a:avLst>
              <a:gd name="adj" fmla="val 10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50">
                <a:solidFill>
                  <a:srgbClr val="234018"/>
                </a:solidFill>
              </a:rPr>
              <a:t>Diretora ADM / Fin. (CFO)</a:t>
            </a:r>
          </a:p>
          <a:p>
            <a:pPr algn="l">
              <a:lnSpc>
                <a:spcPct val="96000"/>
              </a:lnSpc>
            </a:pPr>
            <a:r>
              <a:rPr lang="pt-BR" sz="950" b="1">
                <a:solidFill>
                  <a:srgbClr val="234018"/>
                </a:solidFill>
              </a:rPr>
              <a:t>Carla Cruz</a:t>
            </a:r>
          </a:p>
        </p:txBody>
      </p:sp>
      <p:sp>
        <p:nvSpPr>
          <p:cNvPr id="103" name="pill 103"/>
          <p:cNvSpPr/>
          <p:nvPr/>
        </p:nvSpPr>
        <p:spPr>
          <a:xfrm>
            <a:off x="2714000" y="2475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04" name="Box 104"/>
          <p:cNvSpPr/>
          <p:nvPr/>
        </p:nvSpPr>
        <p:spPr>
          <a:xfrm>
            <a:off x="729000" y="301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Tesouraria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Yolanda</a:t>
            </a:r>
          </a:p>
        </p:txBody>
      </p:sp>
      <p:sp>
        <p:nvSpPr>
          <p:cNvPr id="105" name="pill 105"/>
          <p:cNvSpPr/>
          <p:nvPr/>
        </p:nvSpPr>
        <p:spPr>
          <a:xfrm>
            <a:off x="2694000" y="309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06" name="Box 106"/>
          <p:cNvSpPr/>
          <p:nvPr/>
        </p:nvSpPr>
        <p:spPr>
          <a:xfrm>
            <a:off x="989000" y="342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Contas a Pagar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Camila</a:t>
            </a:r>
          </a:p>
        </p:txBody>
      </p:sp>
      <p:sp>
        <p:nvSpPr>
          <p:cNvPr id="107" name="pill 107"/>
          <p:cNvSpPr/>
          <p:nvPr/>
        </p:nvSpPr>
        <p:spPr>
          <a:xfrm>
            <a:off x="2694000" y="350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08" name="Box 108"/>
          <p:cNvSpPr/>
          <p:nvPr/>
        </p:nvSpPr>
        <p:spPr>
          <a:xfrm>
            <a:off x="989000" y="383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Contas a Receber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Maria</a:t>
            </a:r>
          </a:p>
        </p:txBody>
      </p:sp>
      <p:sp>
        <p:nvSpPr>
          <p:cNvPr id="109" name="pill 109"/>
          <p:cNvSpPr/>
          <p:nvPr/>
        </p:nvSpPr>
        <p:spPr>
          <a:xfrm>
            <a:off x="2694000" y="391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10" name="Box 110"/>
          <p:cNvSpPr/>
          <p:nvPr/>
        </p:nvSpPr>
        <p:spPr>
          <a:xfrm>
            <a:off x="989000" y="424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 dirty="0">
                <a:solidFill>
                  <a:srgbClr val="234018"/>
                </a:solidFill>
              </a:rPr>
              <a:t>Câmbio</a:t>
            </a:r>
          </a:p>
          <a:p>
            <a:pPr algn="l">
              <a:lnSpc>
                <a:spcPct val="96000"/>
              </a:lnSpc>
            </a:pPr>
            <a:r>
              <a:rPr lang="pt-BR" sz="820" b="1" dirty="0">
                <a:solidFill>
                  <a:srgbClr val="234018"/>
                </a:solidFill>
              </a:rPr>
              <a:t>Felipe Peres</a:t>
            </a:r>
          </a:p>
        </p:txBody>
      </p:sp>
      <p:sp>
        <p:nvSpPr>
          <p:cNvPr id="111" name="pill 111"/>
          <p:cNvSpPr/>
          <p:nvPr/>
        </p:nvSpPr>
        <p:spPr>
          <a:xfrm>
            <a:off x="2694000" y="432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12" name="Box 112"/>
          <p:cNvSpPr/>
          <p:nvPr/>
        </p:nvSpPr>
        <p:spPr>
          <a:xfrm>
            <a:off x="729000" y="465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 dirty="0">
                <a:solidFill>
                  <a:srgbClr val="234018"/>
                </a:solidFill>
              </a:rPr>
              <a:t>Adm. E  compras</a:t>
            </a:r>
          </a:p>
          <a:p>
            <a:pPr algn="l">
              <a:lnSpc>
                <a:spcPct val="96000"/>
              </a:lnSpc>
            </a:pPr>
            <a:r>
              <a:rPr lang="pt-BR" sz="820" b="1" dirty="0">
                <a:solidFill>
                  <a:srgbClr val="234018"/>
                </a:solidFill>
              </a:rPr>
              <a:t>Cintia</a:t>
            </a:r>
          </a:p>
        </p:txBody>
      </p:sp>
      <p:sp>
        <p:nvSpPr>
          <p:cNvPr id="113" name="pill 113"/>
          <p:cNvSpPr/>
          <p:nvPr/>
        </p:nvSpPr>
        <p:spPr>
          <a:xfrm>
            <a:off x="2694000" y="473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14" name="Box 114"/>
          <p:cNvSpPr/>
          <p:nvPr/>
        </p:nvSpPr>
        <p:spPr>
          <a:xfrm>
            <a:off x="729000" y="506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Facilities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Larissa</a:t>
            </a:r>
          </a:p>
        </p:txBody>
      </p:sp>
      <p:sp>
        <p:nvSpPr>
          <p:cNvPr id="115" name="pill 115"/>
          <p:cNvSpPr/>
          <p:nvPr/>
        </p:nvSpPr>
        <p:spPr>
          <a:xfrm>
            <a:off x="2694000" y="514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16" name="Box 116"/>
          <p:cNvSpPr/>
          <p:nvPr/>
        </p:nvSpPr>
        <p:spPr>
          <a:xfrm>
            <a:off x="729000" y="547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Jurídico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Reinaldo</a:t>
            </a:r>
          </a:p>
        </p:txBody>
      </p:sp>
      <p:sp>
        <p:nvSpPr>
          <p:cNvPr id="117" name="pill 117"/>
          <p:cNvSpPr/>
          <p:nvPr/>
        </p:nvSpPr>
        <p:spPr>
          <a:xfrm>
            <a:off x="2694000" y="555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18" name="Box 118"/>
          <p:cNvSpPr/>
          <p:nvPr/>
        </p:nvSpPr>
        <p:spPr>
          <a:xfrm>
            <a:off x="729000" y="588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Compliance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Amanda</a:t>
            </a:r>
          </a:p>
        </p:txBody>
      </p:sp>
      <p:sp>
        <p:nvSpPr>
          <p:cNvPr id="119" name="pill 119"/>
          <p:cNvSpPr/>
          <p:nvPr/>
        </p:nvSpPr>
        <p:spPr>
          <a:xfrm>
            <a:off x="2694000" y="596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20" name="Box 120"/>
          <p:cNvSpPr/>
          <p:nvPr/>
        </p:nvSpPr>
        <p:spPr>
          <a:xfrm>
            <a:off x="729000" y="629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RH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Vanessa</a:t>
            </a:r>
          </a:p>
        </p:txBody>
      </p:sp>
      <p:sp>
        <p:nvSpPr>
          <p:cNvPr id="121" name="pill 121"/>
          <p:cNvSpPr/>
          <p:nvPr/>
        </p:nvSpPr>
        <p:spPr>
          <a:xfrm>
            <a:off x="2694000" y="637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 dirty="0">
                <a:solidFill>
                  <a:srgbClr val="FFFFFF"/>
                </a:solidFill>
              </a:rPr>
              <a:t>PJ</a:t>
            </a:r>
          </a:p>
        </p:txBody>
      </p:sp>
      <p:cxnSp>
        <p:nvCxnSpPr>
          <p:cNvPr id="122" name="C122"/>
          <p:cNvCxnSpPr/>
          <p:nvPr/>
        </p:nvCxnSpPr>
        <p:spPr>
          <a:xfrm>
            <a:off x="669000" y="2840000"/>
            <a:ext cx="0" cy="3633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3" name="C123"/>
          <p:cNvCxnSpPr/>
          <p:nvPr/>
        </p:nvCxnSpPr>
        <p:spPr>
          <a:xfrm>
            <a:off x="669000" y="319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4" name="C124"/>
          <p:cNvCxnSpPr/>
          <p:nvPr/>
        </p:nvCxnSpPr>
        <p:spPr>
          <a:xfrm>
            <a:off x="669000" y="483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5" name="C125"/>
          <p:cNvCxnSpPr/>
          <p:nvPr/>
        </p:nvCxnSpPr>
        <p:spPr>
          <a:xfrm>
            <a:off x="669000" y="524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6" name="C126"/>
          <p:cNvCxnSpPr/>
          <p:nvPr/>
        </p:nvCxnSpPr>
        <p:spPr>
          <a:xfrm>
            <a:off x="669000" y="565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7" name="C127"/>
          <p:cNvCxnSpPr/>
          <p:nvPr/>
        </p:nvCxnSpPr>
        <p:spPr>
          <a:xfrm>
            <a:off x="669000" y="606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8" name="C128"/>
          <p:cNvCxnSpPr/>
          <p:nvPr/>
        </p:nvCxnSpPr>
        <p:spPr>
          <a:xfrm>
            <a:off x="669000" y="647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29" name="C129"/>
          <p:cNvCxnSpPr/>
          <p:nvPr/>
        </p:nvCxnSpPr>
        <p:spPr>
          <a:xfrm>
            <a:off x="909000" y="3376000"/>
            <a:ext cx="0" cy="1047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30" name="C130"/>
          <p:cNvCxnSpPr/>
          <p:nvPr/>
        </p:nvCxnSpPr>
        <p:spPr>
          <a:xfrm>
            <a:off x="909000" y="360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31" name="C131"/>
          <p:cNvCxnSpPr/>
          <p:nvPr/>
        </p:nvCxnSpPr>
        <p:spPr>
          <a:xfrm>
            <a:off x="909000" y="401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32" name="C132"/>
          <p:cNvCxnSpPr/>
          <p:nvPr/>
        </p:nvCxnSpPr>
        <p:spPr>
          <a:xfrm>
            <a:off x="909000" y="442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133" name="Box 133"/>
          <p:cNvSpPr/>
          <p:nvPr/>
        </p:nvSpPr>
        <p:spPr>
          <a:xfrm>
            <a:off x="3427000" y="2300000"/>
            <a:ext cx="2520000" cy="540000"/>
          </a:xfrm>
          <a:prstGeom prst="roundRect">
            <a:avLst>
              <a:gd name="adj" fmla="val 10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50" dirty="0">
                <a:solidFill>
                  <a:srgbClr val="234018"/>
                </a:solidFill>
              </a:rPr>
              <a:t>Gerente Produtos &amp; Operações</a:t>
            </a:r>
          </a:p>
          <a:p>
            <a:pPr algn="l">
              <a:lnSpc>
                <a:spcPct val="96000"/>
              </a:lnSpc>
            </a:pPr>
            <a:r>
              <a:rPr lang="pt-BR" sz="950" b="1" dirty="0">
                <a:solidFill>
                  <a:srgbClr val="234018"/>
                </a:solidFill>
              </a:rPr>
              <a:t>Raquel B. Cruz</a:t>
            </a:r>
          </a:p>
        </p:txBody>
      </p:sp>
      <p:sp>
        <p:nvSpPr>
          <p:cNvPr id="134" name="pill 134"/>
          <p:cNvSpPr/>
          <p:nvPr/>
        </p:nvSpPr>
        <p:spPr>
          <a:xfrm>
            <a:off x="5532000" y="2475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35" name="Box 135"/>
          <p:cNvSpPr/>
          <p:nvPr/>
        </p:nvSpPr>
        <p:spPr>
          <a:xfrm>
            <a:off x="3547000" y="301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Projetos / PMO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Eduardo</a:t>
            </a:r>
          </a:p>
        </p:txBody>
      </p:sp>
      <p:sp>
        <p:nvSpPr>
          <p:cNvPr id="136" name="pill 136"/>
          <p:cNvSpPr/>
          <p:nvPr/>
        </p:nvSpPr>
        <p:spPr>
          <a:xfrm>
            <a:off x="5512000" y="309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37" name="Box 137"/>
          <p:cNvSpPr/>
          <p:nvPr/>
        </p:nvSpPr>
        <p:spPr>
          <a:xfrm>
            <a:off x="3547000" y="342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 dirty="0">
                <a:solidFill>
                  <a:srgbClr val="234018"/>
                </a:solidFill>
              </a:rPr>
              <a:t>Produto </a:t>
            </a:r>
            <a:r>
              <a:rPr lang="pt-BR" sz="600" dirty="0" err="1">
                <a:solidFill>
                  <a:srgbClr val="234018"/>
                </a:solidFill>
              </a:rPr>
              <a:t>Lydians</a:t>
            </a:r>
            <a:endParaRPr lang="pt-BR" sz="600" dirty="0">
              <a:solidFill>
                <a:srgbClr val="234018"/>
              </a:solidFill>
            </a:endParaRPr>
          </a:p>
          <a:p>
            <a:pPr algn="l">
              <a:lnSpc>
                <a:spcPct val="96000"/>
              </a:lnSpc>
            </a:pPr>
            <a:r>
              <a:rPr lang="pt-BR" sz="820" b="1" dirty="0">
                <a:solidFill>
                  <a:srgbClr val="234018"/>
                </a:solidFill>
              </a:rPr>
              <a:t>Eliana</a:t>
            </a:r>
          </a:p>
        </p:txBody>
      </p:sp>
      <p:sp>
        <p:nvSpPr>
          <p:cNvPr id="138" name="pill 138"/>
          <p:cNvSpPr/>
          <p:nvPr/>
        </p:nvSpPr>
        <p:spPr>
          <a:xfrm>
            <a:off x="5512000" y="350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39" name="Box 139"/>
          <p:cNvSpPr/>
          <p:nvPr/>
        </p:nvSpPr>
        <p:spPr>
          <a:xfrm>
            <a:off x="3547000" y="383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 dirty="0">
                <a:solidFill>
                  <a:srgbClr val="234018"/>
                </a:solidFill>
              </a:rPr>
              <a:t>PO - BAAS</a:t>
            </a:r>
          </a:p>
          <a:p>
            <a:pPr algn="l">
              <a:lnSpc>
                <a:spcPct val="96000"/>
              </a:lnSpc>
            </a:pPr>
            <a:r>
              <a:rPr lang="pt-BR" sz="820" b="1" dirty="0">
                <a:solidFill>
                  <a:srgbClr val="234018"/>
                </a:solidFill>
              </a:rPr>
              <a:t>Erik</a:t>
            </a:r>
          </a:p>
        </p:txBody>
      </p:sp>
      <p:sp>
        <p:nvSpPr>
          <p:cNvPr id="140" name="pill 140"/>
          <p:cNvSpPr/>
          <p:nvPr/>
        </p:nvSpPr>
        <p:spPr>
          <a:xfrm>
            <a:off x="5512000" y="391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41" name="Box 141"/>
          <p:cNvSpPr/>
          <p:nvPr/>
        </p:nvSpPr>
        <p:spPr>
          <a:xfrm>
            <a:off x="3547000" y="424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Designer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Filippi</a:t>
            </a:r>
          </a:p>
        </p:txBody>
      </p:sp>
      <p:sp>
        <p:nvSpPr>
          <p:cNvPr id="142" name="pill 142"/>
          <p:cNvSpPr/>
          <p:nvPr/>
        </p:nvSpPr>
        <p:spPr>
          <a:xfrm>
            <a:off x="5512000" y="432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43" name="Box 143"/>
          <p:cNvSpPr/>
          <p:nvPr/>
        </p:nvSpPr>
        <p:spPr>
          <a:xfrm>
            <a:off x="3547000" y="465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Operações Cartões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Sabrina</a:t>
            </a:r>
          </a:p>
        </p:txBody>
      </p:sp>
      <p:sp>
        <p:nvSpPr>
          <p:cNvPr id="144" name="pill 144"/>
          <p:cNvSpPr/>
          <p:nvPr/>
        </p:nvSpPr>
        <p:spPr>
          <a:xfrm>
            <a:off x="5512000" y="473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cxnSp>
        <p:nvCxnSpPr>
          <p:cNvPr id="145" name="C145"/>
          <p:cNvCxnSpPr/>
          <p:nvPr/>
        </p:nvCxnSpPr>
        <p:spPr>
          <a:xfrm>
            <a:off x="3487000" y="2840000"/>
            <a:ext cx="0" cy="1993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46" name="C146"/>
          <p:cNvCxnSpPr/>
          <p:nvPr/>
        </p:nvCxnSpPr>
        <p:spPr>
          <a:xfrm>
            <a:off x="3487000" y="319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47" name="C147"/>
          <p:cNvCxnSpPr/>
          <p:nvPr/>
        </p:nvCxnSpPr>
        <p:spPr>
          <a:xfrm>
            <a:off x="3487000" y="360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48" name="C148"/>
          <p:cNvCxnSpPr/>
          <p:nvPr/>
        </p:nvCxnSpPr>
        <p:spPr>
          <a:xfrm>
            <a:off x="3487000" y="401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49" name="C149"/>
          <p:cNvCxnSpPr/>
          <p:nvPr/>
        </p:nvCxnSpPr>
        <p:spPr>
          <a:xfrm>
            <a:off x="3487000" y="442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50" name="C150"/>
          <p:cNvCxnSpPr/>
          <p:nvPr/>
        </p:nvCxnSpPr>
        <p:spPr>
          <a:xfrm>
            <a:off x="3487000" y="483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151" name="Box 151"/>
          <p:cNvSpPr/>
          <p:nvPr/>
        </p:nvSpPr>
        <p:spPr>
          <a:xfrm>
            <a:off x="6245000" y="2300000"/>
            <a:ext cx="2520000" cy="540000"/>
          </a:xfrm>
          <a:prstGeom prst="roundRect">
            <a:avLst>
              <a:gd name="adj" fmla="val 10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50">
                <a:solidFill>
                  <a:srgbClr val="234018"/>
                </a:solidFill>
              </a:rPr>
              <a:t>Gerente de TI</a:t>
            </a:r>
          </a:p>
          <a:p>
            <a:pPr algn="l">
              <a:lnSpc>
                <a:spcPct val="96000"/>
              </a:lnSpc>
            </a:pPr>
            <a:r>
              <a:rPr lang="pt-BR" sz="950" b="1">
                <a:solidFill>
                  <a:srgbClr val="234018"/>
                </a:solidFill>
              </a:rPr>
              <a:t>Rafael Magalhães</a:t>
            </a:r>
          </a:p>
        </p:txBody>
      </p:sp>
      <p:sp>
        <p:nvSpPr>
          <p:cNvPr id="152" name="pill 152"/>
          <p:cNvSpPr/>
          <p:nvPr/>
        </p:nvSpPr>
        <p:spPr>
          <a:xfrm>
            <a:off x="8350000" y="2475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53" name="Box 153"/>
          <p:cNvSpPr/>
          <p:nvPr/>
        </p:nvSpPr>
        <p:spPr>
          <a:xfrm>
            <a:off x="6365000" y="301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DBA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Carlos Eduardo</a:t>
            </a:r>
          </a:p>
        </p:txBody>
      </p:sp>
      <p:sp>
        <p:nvSpPr>
          <p:cNvPr id="154" name="pill 154"/>
          <p:cNvSpPr/>
          <p:nvPr/>
        </p:nvSpPr>
        <p:spPr>
          <a:xfrm>
            <a:off x="8330000" y="309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55" name="Box 155"/>
          <p:cNvSpPr/>
          <p:nvPr/>
        </p:nvSpPr>
        <p:spPr>
          <a:xfrm>
            <a:off x="6365000" y="342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Coordenadora de TI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Marcia</a:t>
            </a:r>
          </a:p>
        </p:txBody>
      </p:sp>
      <p:sp>
        <p:nvSpPr>
          <p:cNvPr id="156" name="pill 156"/>
          <p:cNvSpPr/>
          <p:nvPr/>
        </p:nvSpPr>
        <p:spPr>
          <a:xfrm>
            <a:off x="8330000" y="350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57" name="Box 157"/>
          <p:cNvSpPr/>
          <p:nvPr/>
        </p:nvSpPr>
        <p:spPr>
          <a:xfrm>
            <a:off x="6625000" y="383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 dirty="0">
                <a:solidFill>
                  <a:srgbClr val="234018"/>
                </a:solidFill>
              </a:rPr>
              <a:t>Desenvolvimento</a:t>
            </a:r>
          </a:p>
          <a:p>
            <a:pPr algn="l">
              <a:lnSpc>
                <a:spcPct val="96000"/>
              </a:lnSpc>
            </a:pPr>
            <a:r>
              <a:rPr lang="pt-BR" sz="820" b="1" dirty="0">
                <a:solidFill>
                  <a:srgbClr val="234018"/>
                </a:solidFill>
              </a:rPr>
              <a:t>Thaygor</a:t>
            </a:r>
          </a:p>
        </p:txBody>
      </p:sp>
      <p:sp>
        <p:nvSpPr>
          <p:cNvPr id="158" name="pill 158"/>
          <p:cNvSpPr/>
          <p:nvPr/>
        </p:nvSpPr>
        <p:spPr>
          <a:xfrm>
            <a:off x="8330000" y="391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59" name="Box 159"/>
          <p:cNvSpPr/>
          <p:nvPr/>
        </p:nvSpPr>
        <p:spPr>
          <a:xfrm>
            <a:off x="6625000" y="424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RPA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Felipp</a:t>
            </a:r>
          </a:p>
        </p:txBody>
      </p:sp>
      <p:sp>
        <p:nvSpPr>
          <p:cNvPr id="160" name="pill 160"/>
          <p:cNvSpPr/>
          <p:nvPr/>
        </p:nvSpPr>
        <p:spPr>
          <a:xfrm>
            <a:off x="8330000" y="432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4E9E24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CLT</a:t>
            </a:r>
          </a:p>
        </p:txBody>
      </p:sp>
      <p:sp>
        <p:nvSpPr>
          <p:cNvPr id="161" name="Box 161"/>
          <p:cNvSpPr/>
          <p:nvPr/>
        </p:nvSpPr>
        <p:spPr>
          <a:xfrm>
            <a:off x="6625000" y="465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 cap="rnd">
            <a:solidFill>
              <a:srgbClr val="4E9E24"/>
            </a:solidFill>
            <a:prstDash val="dash"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Desenvolvimento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TBD</a:t>
            </a:r>
          </a:p>
        </p:txBody>
      </p:sp>
      <p:sp>
        <p:nvSpPr>
          <p:cNvPr id="162" name="pill 162"/>
          <p:cNvSpPr/>
          <p:nvPr/>
        </p:nvSpPr>
        <p:spPr>
          <a:xfrm>
            <a:off x="8330000" y="473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63" name="Box 163"/>
          <p:cNvSpPr/>
          <p:nvPr/>
        </p:nvSpPr>
        <p:spPr>
          <a:xfrm>
            <a:off x="6625000" y="506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 cap="rnd">
            <a:solidFill>
              <a:srgbClr val="4E9E24"/>
            </a:solidFill>
            <a:prstDash val="dash"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QA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TBD</a:t>
            </a:r>
          </a:p>
        </p:txBody>
      </p:sp>
      <p:sp>
        <p:nvSpPr>
          <p:cNvPr id="164" name="pill 164"/>
          <p:cNvSpPr/>
          <p:nvPr/>
        </p:nvSpPr>
        <p:spPr>
          <a:xfrm>
            <a:off x="8330000" y="514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65" name="Box 165"/>
          <p:cNvSpPr/>
          <p:nvPr/>
        </p:nvSpPr>
        <p:spPr>
          <a:xfrm>
            <a:off x="6625000" y="5470000"/>
            <a:ext cx="2120000" cy="36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 cap="rnd">
            <a:solidFill>
              <a:srgbClr val="4E9E24"/>
            </a:solidFill>
            <a:prstDash val="dash"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>
                <a:solidFill>
                  <a:srgbClr val="234018"/>
                </a:solidFill>
              </a:rPr>
              <a:t>Desenvolvimento</a:t>
            </a:r>
          </a:p>
          <a:p>
            <a:pPr algn="l">
              <a:lnSpc>
                <a:spcPct val="96000"/>
              </a:lnSpc>
            </a:pPr>
            <a:r>
              <a:rPr lang="pt-BR" sz="820" b="1">
                <a:solidFill>
                  <a:srgbClr val="234018"/>
                </a:solidFill>
              </a:rPr>
              <a:t>TBD</a:t>
            </a:r>
          </a:p>
        </p:txBody>
      </p:sp>
      <p:sp>
        <p:nvSpPr>
          <p:cNvPr id="166" name="pill 166"/>
          <p:cNvSpPr/>
          <p:nvPr/>
        </p:nvSpPr>
        <p:spPr>
          <a:xfrm>
            <a:off x="8330000" y="555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167" name="Box 167"/>
          <p:cNvSpPr/>
          <p:nvPr/>
        </p:nvSpPr>
        <p:spPr>
          <a:xfrm>
            <a:off x="6365000" y="5880000"/>
            <a:ext cx="2380000" cy="366000"/>
          </a:xfrm>
          <a:prstGeom prst="roundRect">
            <a:avLst>
              <a:gd name="adj" fmla="val 10000"/>
            </a:avLst>
          </a:prstGeom>
          <a:solidFill>
            <a:srgbClr val="CDEBB0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00" dirty="0">
                <a:solidFill>
                  <a:srgbClr val="234018"/>
                </a:solidFill>
              </a:rPr>
              <a:t>GTD / Infraestrutura</a:t>
            </a:r>
          </a:p>
          <a:p>
            <a:pPr algn="l">
              <a:lnSpc>
                <a:spcPct val="96000"/>
              </a:lnSpc>
            </a:pPr>
            <a:r>
              <a:rPr lang="pt-BR" sz="820" b="1" dirty="0">
                <a:solidFill>
                  <a:srgbClr val="234018"/>
                </a:solidFill>
              </a:rPr>
              <a:t>Diogo</a:t>
            </a:r>
          </a:p>
        </p:txBody>
      </p:sp>
      <p:sp>
        <p:nvSpPr>
          <p:cNvPr id="168" name="pill 168"/>
          <p:cNvSpPr/>
          <p:nvPr/>
        </p:nvSpPr>
        <p:spPr>
          <a:xfrm>
            <a:off x="8330000" y="5968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C77D0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PS</a:t>
            </a:r>
          </a:p>
        </p:txBody>
      </p:sp>
      <p:cxnSp>
        <p:nvCxnSpPr>
          <p:cNvPr id="169" name="C169"/>
          <p:cNvCxnSpPr/>
          <p:nvPr/>
        </p:nvCxnSpPr>
        <p:spPr>
          <a:xfrm>
            <a:off x="6305000" y="2840000"/>
            <a:ext cx="0" cy="3223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0" name="C170"/>
          <p:cNvCxnSpPr/>
          <p:nvPr/>
        </p:nvCxnSpPr>
        <p:spPr>
          <a:xfrm>
            <a:off x="6305000" y="319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1" name="C171"/>
          <p:cNvCxnSpPr/>
          <p:nvPr/>
        </p:nvCxnSpPr>
        <p:spPr>
          <a:xfrm>
            <a:off x="6305000" y="360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2" name="C172"/>
          <p:cNvCxnSpPr/>
          <p:nvPr/>
        </p:nvCxnSpPr>
        <p:spPr>
          <a:xfrm>
            <a:off x="6305000" y="6063000"/>
            <a:ext cx="6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3" name="C173"/>
          <p:cNvCxnSpPr/>
          <p:nvPr/>
        </p:nvCxnSpPr>
        <p:spPr>
          <a:xfrm>
            <a:off x="6545000" y="3786000"/>
            <a:ext cx="0" cy="186700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4" name="C174"/>
          <p:cNvCxnSpPr/>
          <p:nvPr/>
        </p:nvCxnSpPr>
        <p:spPr>
          <a:xfrm>
            <a:off x="6545000" y="401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5" name="C175"/>
          <p:cNvCxnSpPr/>
          <p:nvPr/>
        </p:nvCxnSpPr>
        <p:spPr>
          <a:xfrm>
            <a:off x="6545000" y="442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6" name="C176"/>
          <p:cNvCxnSpPr/>
          <p:nvPr/>
        </p:nvCxnSpPr>
        <p:spPr>
          <a:xfrm>
            <a:off x="6545000" y="483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7" name="C177"/>
          <p:cNvCxnSpPr/>
          <p:nvPr/>
        </p:nvCxnSpPr>
        <p:spPr>
          <a:xfrm>
            <a:off x="6545000" y="524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178" name="C178"/>
          <p:cNvCxnSpPr/>
          <p:nvPr/>
        </p:nvCxnSpPr>
        <p:spPr>
          <a:xfrm>
            <a:off x="6545000" y="5653000"/>
            <a:ext cx="80000" cy="0"/>
          </a:xfrm>
          <a:prstGeom prst="line">
            <a:avLst/>
          </a:prstGeom>
          <a:ln w="12700" cap="rnd">
            <a:solidFill>
              <a:srgbClr val="4E9E24"/>
            </a:solidFill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179" name="Box 179"/>
          <p:cNvSpPr/>
          <p:nvPr/>
        </p:nvSpPr>
        <p:spPr>
          <a:xfrm>
            <a:off x="9063000" y="2300000"/>
            <a:ext cx="2520000" cy="540000"/>
          </a:xfrm>
          <a:prstGeom prst="roundRect">
            <a:avLst>
              <a:gd name="adj" fmla="val 10000"/>
            </a:avLst>
          </a:prstGeom>
          <a:solidFill>
            <a:srgbClr val="6ACC32"/>
          </a:solidFill>
          <a:ln w="12700">
            <a:noFill/>
          </a:ln>
        </p:spPr>
        <p:txBody>
          <a:bodyPr wrap="square" lIns="118000" tIns="10000" rIns="430000" bIns="1000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650">
                <a:solidFill>
                  <a:srgbClr val="234018"/>
                </a:solidFill>
              </a:rPr>
              <a:t>Diretora Comercial</a:t>
            </a:r>
          </a:p>
          <a:p>
            <a:pPr algn="l">
              <a:lnSpc>
                <a:spcPct val="96000"/>
              </a:lnSpc>
            </a:pPr>
            <a:r>
              <a:rPr lang="pt-BR" sz="950" b="1">
                <a:solidFill>
                  <a:srgbClr val="234018"/>
                </a:solidFill>
              </a:rPr>
              <a:t>Noela Gigliotti</a:t>
            </a:r>
          </a:p>
        </p:txBody>
      </p:sp>
      <p:sp>
        <p:nvSpPr>
          <p:cNvPr id="180" name="pill 180"/>
          <p:cNvSpPr/>
          <p:nvPr/>
        </p:nvSpPr>
        <p:spPr>
          <a:xfrm>
            <a:off x="11168000" y="2475000"/>
            <a:ext cx="330000" cy="190000"/>
          </a:xfrm>
          <a:prstGeom prst="roundRect">
            <a:avLst>
              <a:gd name="adj" fmla="val 50000"/>
            </a:avLst>
          </a:prstGeom>
          <a:solidFill>
            <a:srgbClr val="5B7A8C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700" b="1" spc="150">
                <a:solidFill>
                  <a:srgbClr val="FFFFFF"/>
                </a:solidFill>
              </a:rPr>
              <a:t>PJ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4B6AB3-7430-B2EC-77AE-A63BA9191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561" y="6569401"/>
            <a:ext cx="866775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59">
      <a:dk1>
        <a:srgbClr val="000000"/>
      </a:dk1>
      <a:lt1>
        <a:sysClr val="window" lastClr="FFFFFF"/>
      </a:lt1>
      <a:dk2>
        <a:srgbClr val="8439BD"/>
      </a:dk2>
      <a:lt2>
        <a:srgbClr val="FFFFFF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036B3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0119_TF00283905_Win32" id="{0249F2C1-2B2D-4BD6-9A9F-18D50542F23A}" vid="{3681A339-A89C-43E2-8FF0-66FCC7B8B1C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Organograma mínimo</Template>
  <TotalTime>106</TotalTime>
  <Words>393</Words>
  <Application>Microsoft Office PowerPoint</Application>
  <PresentationFormat>Widescreen</PresentationFormat>
  <Paragraphs>217</Paragraphs>
  <Slides>5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Avenir Next LT Pro Light</vt:lpstr>
      <vt:lpstr>Calibri</vt:lpstr>
      <vt:lpstr>Speak Pro</vt:lpstr>
      <vt:lpstr>Personalizado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Felipp Cordeiro Batista</dc:creator>
  <cp:lastModifiedBy>Vanessa Cristina de Lima</cp:lastModifiedBy>
  <cp:revision>12</cp:revision>
  <dcterms:created xsi:type="dcterms:W3CDTF">2026-07-20T17:32:38Z</dcterms:created>
  <dcterms:modified xsi:type="dcterms:W3CDTF">2026-07-21T12:25:02Z</dcterms:modified>
</cp:coreProperties>
</file>